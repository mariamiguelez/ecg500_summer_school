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5" r:id="rId5"/>
    <p:sldId id="261" r:id="rId6"/>
    <p:sldId id="266" r:id="rId7"/>
    <p:sldId id="267" r:id="rId8"/>
    <p:sldId id="264" r:id="rId9"/>
    <p:sldId id="269" r:id="rId10"/>
    <p:sldId id="268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92"/>
    <p:restoredTop sz="94681"/>
  </p:normalViewPr>
  <p:slideViewPr>
    <p:cSldViewPr snapToGrid="0">
      <p:cViewPr>
        <p:scale>
          <a:sx n="110" d="100"/>
          <a:sy n="110" d="100"/>
        </p:scale>
        <p:origin x="2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9F9EDD-C636-EC43-88FF-49096AE9C210}" type="doc">
      <dgm:prSet loTypeId="urn:microsoft.com/office/officeart/2005/8/layout/hList1" loCatId="list" qsTypeId="urn:microsoft.com/office/officeart/2005/8/quickstyle/simple1#31" qsCatId="simple" csTypeId="urn:microsoft.com/office/officeart/2005/8/colors/colorful1#3" csCatId="colorful" phldr="1"/>
      <dgm:spPr/>
      <dgm:t>
        <a:bodyPr/>
        <a:lstStyle/>
        <a:p>
          <a:endParaRPr lang="en-US"/>
        </a:p>
      </dgm:t>
    </dgm:pt>
    <dgm:pt modelId="{E7785348-92ED-D84A-BD61-A6E6BEDC36B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Feature engineering</a:t>
          </a:r>
        </a:p>
      </dgm:t>
    </dgm:pt>
    <dgm:pt modelId="{9042A4A8-64CC-5545-AD62-499B2A87729D}" type="parTrans" cxnId="{69ECB771-C7A4-2941-82DD-285C2BEF6A01}">
      <dgm:prSet/>
      <dgm:spPr/>
      <dgm:t>
        <a:bodyPr/>
        <a:lstStyle/>
        <a:p>
          <a:endParaRPr lang="en-US"/>
        </a:p>
      </dgm:t>
    </dgm:pt>
    <dgm:pt modelId="{55D25B2C-4DE4-0C4A-8434-BB0471286B31}" type="sibTrans" cxnId="{69ECB771-C7A4-2941-82DD-285C2BEF6A01}">
      <dgm:prSet/>
      <dgm:spPr/>
      <dgm:t>
        <a:bodyPr/>
        <a:lstStyle/>
        <a:p>
          <a:endParaRPr lang="en-US"/>
        </a:p>
      </dgm:t>
    </dgm:pt>
    <dgm:pt modelId="{B9843259-4796-304D-9D38-46673985C06B}">
      <dgm:prSet/>
      <dgm:spPr/>
      <dgm:t>
        <a:bodyPr/>
        <a:lstStyle/>
        <a:p>
          <a:r>
            <a:rPr lang="en-US" b="1" dirty="0"/>
            <a:t>Classification task</a:t>
          </a:r>
        </a:p>
      </dgm:t>
    </dgm:pt>
    <dgm:pt modelId="{1A3F40A8-B7D5-1F4C-81A7-9BAC1F817DED}" type="parTrans" cxnId="{3D4E8CAC-C3F4-F54D-99EB-7B7DCD6BCF9A}">
      <dgm:prSet/>
      <dgm:spPr/>
      <dgm:t>
        <a:bodyPr/>
        <a:lstStyle/>
        <a:p>
          <a:endParaRPr lang="en-US"/>
        </a:p>
      </dgm:t>
    </dgm:pt>
    <dgm:pt modelId="{332DD5F6-9466-534E-A885-546CD8536C5D}" type="sibTrans" cxnId="{3D4E8CAC-C3F4-F54D-99EB-7B7DCD6BCF9A}">
      <dgm:prSet/>
      <dgm:spPr/>
      <dgm:t>
        <a:bodyPr/>
        <a:lstStyle/>
        <a:p>
          <a:endParaRPr lang="en-US"/>
        </a:p>
      </dgm:t>
    </dgm:pt>
    <dgm:pt modelId="{AB2106A5-A5F7-AC4A-AA1F-3EAA8912DFE1}">
      <dgm:prSet/>
      <dgm:spPr/>
      <dgm:t>
        <a:bodyPr/>
        <a:lstStyle/>
        <a:p>
          <a:r>
            <a:rPr lang="en-US" b="1" dirty="0"/>
            <a:t>Triple</a:t>
          </a:r>
          <a:r>
            <a:rPr lang="en-US" dirty="0"/>
            <a:t>: only classes 1 to 3</a:t>
          </a:r>
        </a:p>
      </dgm:t>
    </dgm:pt>
    <dgm:pt modelId="{0054C8F3-ED19-574D-979C-515FAA56C2F6}" type="parTrans" cxnId="{220790F7-A178-6E49-8DF4-EF0A0FF277BA}">
      <dgm:prSet/>
      <dgm:spPr/>
      <dgm:t>
        <a:bodyPr/>
        <a:lstStyle/>
        <a:p>
          <a:endParaRPr lang="en-US"/>
        </a:p>
      </dgm:t>
    </dgm:pt>
    <dgm:pt modelId="{CECDEF2F-566D-4C48-94EF-2098A089D8CC}" type="sibTrans" cxnId="{220790F7-A178-6E49-8DF4-EF0A0FF277BA}">
      <dgm:prSet/>
      <dgm:spPr/>
      <dgm:t>
        <a:bodyPr/>
        <a:lstStyle/>
        <a:p>
          <a:endParaRPr lang="en-US"/>
        </a:p>
      </dgm:t>
    </dgm:pt>
    <dgm:pt modelId="{8530C1D6-EEB1-8A4D-8154-87D791F6BC2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Different train/test split</a:t>
          </a:r>
        </a:p>
      </dgm:t>
    </dgm:pt>
    <dgm:pt modelId="{6C5B02A1-9D1D-5441-B563-9BA5C7E7D04F}" type="parTrans" cxnId="{FF946226-49BB-2545-BC9E-3D9B1FB16B56}">
      <dgm:prSet/>
      <dgm:spPr/>
      <dgm:t>
        <a:bodyPr/>
        <a:lstStyle/>
        <a:p>
          <a:endParaRPr lang="en-US"/>
        </a:p>
      </dgm:t>
    </dgm:pt>
    <dgm:pt modelId="{7F9F3ED0-0E19-8146-8061-4DFA9E040F6D}" type="sibTrans" cxnId="{FF946226-49BB-2545-BC9E-3D9B1FB16B56}">
      <dgm:prSet/>
      <dgm:spPr/>
      <dgm:t>
        <a:bodyPr/>
        <a:lstStyle/>
        <a:p>
          <a:endParaRPr lang="en-US"/>
        </a:p>
      </dgm:t>
    </dgm:pt>
    <dgm:pt modelId="{FEE9A27B-A102-2042-98F7-337B70E2CA2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HPO</a:t>
          </a:r>
          <a:r>
            <a:rPr lang="en-US" dirty="0"/>
            <a:t>: transformer</a:t>
          </a:r>
        </a:p>
      </dgm:t>
    </dgm:pt>
    <dgm:pt modelId="{9B768E76-AC34-4D47-8843-91B4E87DDBFB}" type="parTrans" cxnId="{38A7F2E7-EE22-814F-8C8B-A2ECE82AB67A}">
      <dgm:prSet/>
      <dgm:spPr/>
      <dgm:t>
        <a:bodyPr/>
        <a:lstStyle/>
        <a:p>
          <a:endParaRPr lang="en-US"/>
        </a:p>
      </dgm:t>
    </dgm:pt>
    <dgm:pt modelId="{C4849DD7-20CE-5F4D-8E34-4448873F4441}" type="sibTrans" cxnId="{38A7F2E7-EE22-814F-8C8B-A2ECE82AB67A}">
      <dgm:prSet/>
      <dgm:spPr/>
      <dgm:t>
        <a:bodyPr/>
        <a:lstStyle/>
        <a:p>
          <a:endParaRPr lang="en-US"/>
        </a:p>
      </dgm:t>
    </dgm:pt>
    <dgm:pt modelId="{C9CEE239-4265-0741-B96E-0CA6EC746F4D}">
      <dgm:prSet/>
      <dgm:spPr/>
      <dgm:t>
        <a:bodyPr/>
        <a:lstStyle/>
        <a:p>
          <a:r>
            <a:rPr lang="en-US" b="1" dirty="0"/>
            <a:t>Modeling</a:t>
          </a:r>
        </a:p>
      </dgm:t>
    </dgm:pt>
    <dgm:pt modelId="{3E2FF679-896A-7C4E-8A02-32D97FD80767}" type="parTrans" cxnId="{0695DDF6-7F4C-674B-83A5-93108856FFF3}">
      <dgm:prSet/>
      <dgm:spPr/>
      <dgm:t>
        <a:bodyPr/>
        <a:lstStyle/>
        <a:p>
          <a:endParaRPr lang="en-US"/>
        </a:p>
      </dgm:t>
    </dgm:pt>
    <dgm:pt modelId="{41935AD4-542A-3344-974E-53B2FAC35B1E}" type="sibTrans" cxnId="{0695DDF6-7F4C-674B-83A5-93108856FFF3}">
      <dgm:prSet/>
      <dgm:spPr/>
      <dgm:t>
        <a:bodyPr/>
        <a:lstStyle/>
        <a:p>
          <a:endParaRPr lang="en-US"/>
        </a:p>
      </dgm:t>
    </dgm:pt>
    <dgm:pt modelId="{35DFA55F-043C-844D-9922-D076EE2B354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 err="1"/>
            <a:t>xLSTM</a:t>
          </a:r>
          <a:r>
            <a:rPr lang="en-US" dirty="0"/>
            <a:t> (m and s)</a:t>
          </a:r>
        </a:p>
      </dgm:t>
    </dgm:pt>
    <dgm:pt modelId="{9B922104-70B6-0748-AA43-08F2B383EE29}" type="parTrans" cxnId="{89B51C6D-5D85-D74A-BC88-A8371E94CCE2}">
      <dgm:prSet/>
      <dgm:spPr/>
      <dgm:t>
        <a:bodyPr/>
        <a:lstStyle/>
        <a:p>
          <a:endParaRPr lang="en-US"/>
        </a:p>
      </dgm:t>
    </dgm:pt>
    <dgm:pt modelId="{182754C2-03A7-6441-B071-576B0D458565}" type="sibTrans" cxnId="{89B51C6D-5D85-D74A-BC88-A8371E94CCE2}">
      <dgm:prSet/>
      <dgm:spPr/>
      <dgm:t>
        <a:bodyPr/>
        <a:lstStyle/>
        <a:p>
          <a:endParaRPr lang="en-US"/>
        </a:p>
      </dgm:t>
    </dgm:pt>
    <dgm:pt modelId="{62F6C7AC-E1B3-FE48-85DC-D789B159896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Foundation model</a:t>
          </a:r>
          <a:r>
            <a:rPr lang="en-US" dirty="0"/>
            <a:t>: MantisV2</a:t>
          </a:r>
        </a:p>
      </dgm:t>
    </dgm:pt>
    <dgm:pt modelId="{F8A69D17-13CF-0C45-A628-E10350AEEF3F}" type="parTrans" cxnId="{C4F98044-9E4F-9F45-A223-43C81599DB2C}">
      <dgm:prSet/>
      <dgm:spPr/>
      <dgm:t>
        <a:bodyPr/>
        <a:lstStyle/>
        <a:p>
          <a:endParaRPr lang="en-US"/>
        </a:p>
      </dgm:t>
    </dgm:pt>
    <dgm:pt modelId="{CE59917B-26DA-614E-8A10-A84DBF0D59A3}" type="sibTrans" cxnId="{C4F98044-9E4F-9F45-A223-43C81599DB2C}">
      <dgm:prSet/>
      <dgm:spPr/>
      <dgm:t>
        <a:bodyPr/>
        <a:lstStyle/>
        <a:p>
          <a:endParaRPr lang="en-US"/>
        </a:p>
      </dgm:t>
    </dgm:pt>
    <dgm:pt modelId="{262EFF58-1CB6-8944-B79C-C59B7E8DE895}">
      <dgm:prSet phldrT="[Text]"/>
      <dgm:spPr/>
      <dgm:t>
        <a:bodyPr/>
        <a:lstStyle/>
        <a:p>
          <a:r>
            <a:rPr lang="en-US" b="1" dirty="0"/>
            <a:t>Data approach</a:t>
          </a:r>
        </a:p>
      </dgm:t>
    </dgm:pt>
    <dgm:pt modelId="{1121F35E-67B7-B641-8FB0-A2EC53A83499}" type="parTrans" cxnId="{58500656-6FC2-2543-A0D7-655727C9B702}">
      <dgm:prSet/>
      <dgm:spPr/>
      <dgm:t>
        <a:bodyPr/>
        <a:lstStyle/>
        <a:p>
          <a:endParaRPr lang="en-US"/>
        </a:p>
      </dgm:t>
    </dgm:pt>
    <dgm:pt modelId="{1301146F-FE59-ED49-AAA0-59F06031B267}" type="sibTrans" cxnId="{58500656-6FC2-2543-A0D7-655727C9B702}">
      <dgm:prSet/>
      <dgm:spPr/>
      <dgm:t>
        <a:bodyPr/>
        <a:lstStyle/>
        <a:p>
          <a:endParaRPr lang="en-US"/>
        </a:p>
      </dgm:t>
    </dgm:pt>
    <dgm:pt modelId="{21B5BC44-63F6-B54D-AD7E-320819AF5EA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More data exploration</a:t>
          </a:r>
        </a:p>
      </dgm:t>
    </dgm:pt>
    <dgm:pt modelId="{39C7E5AE-F999-B547-9158-7E1DF29A698B}" type="sibTrans" cxnId="{7C6C597A-BDED-1B4E-8C73-B6EB7F6FEC19}">
      <dgm:prSet/>
      <dgm:spPr/>
      <dgm:t>
        <a:bodyPr/>
        <a:lstStyle/>
        <a:p>
          <a:endParaRPr lang="en-US"/>
        </a:p>
      </dgm:t>
    </dgm:pt>
    <dgm:pt modelId="{F8DEAA28-D155-624F-B2E7-9AE26298EF5C}" type="parTrans" cxnId="{7C6C597A-BDED-1B4E-8C73-B6EB7F6FEC19}">
      <dgm:prSet/>
      <dgm:spPr/>
      <dgm:t>
        <a:bodyPr/>
        <a:lstStyle/>
        <a:p>
          <a:endParaRPr lang="en-US"/>
        </a:p>
      </dgm:t>
    </dgm:pt>
    <dgm:pt modelId="{E190964E-BB3C-0543-9A54-5BA94D8F6F62}">
      <dgm:prSet/>
      <dgm:spPr/>
      <dgm:t>
        <a:bodyPr/>
        <a:lstStyle/>
        <a:p>
          <a:r>
            <a:rPr lang="en-US" b="1" dirty="0"/>
            <a:t>Binary</a:t>
          </a:r>
          <a:r>
            <a:rPr lang="en-US" dirty="0"/>
            <a:t>: healthy vs disease</a:t>
          </a:r>
        </a:p>
      </dgm:t>
    </dgm:pt>
    <dgm:pt modelId="{364ED554-6D44-7C4C-835B-6753A4337B3F}" type="parTrans" cxnId="{EBABF910-85AC-C145-B1EE-D30BDE686789}">
      <dgm:prSet/>
      <dgm:spPr/>
      <dgm:t>
        <a:bodyPr/>
        <a:lstStyle/>
        <a:p>
          <a:endParaRPr lang="en-US"/>
        </a:p>
      </dgm:t>
    </dgm:pt>
    <dgm:pt modelId="{527E5B48-E6B3-D946-9554-C06EE246DC6C}" type="sibTrans" cxnId="{EBABF910-85AC-C145-B1EE-D30BDE686789}">
      <dgm:prSet/>
      <dgm:spPr/>
      <dgm:t>
        <a:bodyPr/>
        <a:lstStyle/>
        <a:p>
          <a:endParaRPr lang="en-US"/>
        </a:p>
      </dgm:t>
    </dgm:pt>
    <dgm:pt modelId="{C7851805-C01A-0049-8816-3F911A8CF544}" type="pres">
      <dgm:prSet presAssocID="{D09F9EDD-C636-EC43-88FF-49096AE9C210}" presName="Name0" presStyleCnt="0">
        <dgm:presLayoutVars>
          <dgm:dir/>
          <dgm:animLvl val="lvl"/>
          <dgm:resizeHandles val="exact"/>
        </dgm:presLayoutVars>
      </dgm:prSet>
      <dgm:spPr/>
    </dgm:pt>
    <dgm:pt modelId="{DD8E76DD-9A3E-8F4D-BDF8-46D587571A51}" type="pres">
      <dgm:prSet presAssocID="{262EFF58-1CB6-8944-B79C-C59B7E8DE895}" presName="composite" presStyleCnt="0"/>
      <dgm:spPr/>
    </dgm:pt>
    <dgm:pt modelId="{020AB742-9DE8-0A4D-ABB2-E72809626DD1}" type="pres">
      <dgm:prSet presAssocID="{262EFF58-1CB6-8944-B79C-C59B7E8DE895}" presName="parTx" presStyleLbl="alignNode1" presStyleIdx="0" presStyleCnt="3" custLinFactNeighborX="-2310">
        <dgm:presLayoutVars>
          <dgm:chMax val="0"/>
          <dgm:chPref val="0"/>
          <dgm:bulletEnabled val="1"/>
        </dgm:presLayoutVars>
      </dgm:prSet>
      <dgm:spPr>
        <a:prstGeom prst="rect">
          <a:avLst/>
        </a:prstGeom>
      </dgm:spPr>
    </dgm:pt>
    <dgm:pt modelId="{42229F31-39CB-EF43-8CE7-7CE58142B754}" type="pres">
      <dgm:prSet presAssocID="{262EFF58-1CB6-8944-B79C-C59B7E8DE895}" presName="desTx" presStyleLbl="alignAccFollowNode1" presStyleIdx="0" presStyleCnt="3">
        <dgm:presLayoutVars>
          <dgm:bulletEnabled val="1"/>
        </dgm:presLayoutVars>
      </dgm:prSet>
      <dgm:spPr/>
    </dgm:pt>
    <dgm:pt modelId="{215169AF-D50A-FB43-A447-CF51AD170984}" type="pres">
      <dgm:prSet presAssocID="{1301146F-FE59-ED49-AAA0-59F06031B267}" presName="space" presStyleCnt="0"/>
      <dgm:spPr/>
    </dgm:pt>
    <dgm:pt modelId="{98867157-044A-0046-956F-DB585268B32D}" type="pres">
      <dgm:prSet presAssocID="{B9843259-4796-304D-9D38-46673985C06B}" presName="composite" presStyleCnt="0"/>
      <dgm:spPr/>
    </dgm:pt>
    <dgm:pt modelId="{AF4E56B2-E421-5A4A-8CC2-EEF684763770}" type="pres">
      <dgm:prSet presAssocID="{B9843259-4796-304D-9D38-46673985C06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73DA392-E438-8542-A58D-1F149A005168}" type="pres">
      <dgm:prSet presAssocID="{B9843259-4796-304D-9D38-46673985C06B}" presName="desTx" presStyleLbl="alignAccFollowNode1" presStyleIdx="1" presStyleCnt="3">
        <dgm:presLayoutVars>
          <dgm:bulletEnabled val="1"/>
        </dgm:presLayoutVars>
      </dgm:prSet>
      <dgm:spPr/>
    </dgm:pt>
    <dgm:pt modelId="{9F752573-E045-5941-AA8D-C8F4F47C2356}" type="pres">
      <dgm:prSet presAssocID="{332DD5F6-9466-534E-A885-546CD8536C5D}" presName="space" presStyleCnt="0"/>
      <dgm:spPr/>
    </dgm:pt>
    <dgm:pt modelId="{8DACCB91-CCD1-154F-9DFC-0BB1CCA8876E}" type="pres">
      <dgm:prSet presAssocID="{C9CEE239-4265-0741-B96E-0CA6EC746F4D}" presName="composite" presStyleCnt="0"/>
      <dgm:spPr/>
    </dgm:pt>
    <dgm:pt modelId="{E011CE80-3664-214A-90DC-63929AA54979}" type="pres">
      <dgm:prSet presAssocID="{C9CEE239-4265-0741-B96E-0CA6EC746F4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8936A10-E7B5-5D40-BAC4-05B1243E5DE9}" type="pres">
      <dgm:prSet presAssocID="{C9CEE239-4265-0741-B96E-0CA6EC746F4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EBABF910-85AC-C145-B1EE-D30BDE686789}" srcId="{B9843259-4796-304D-9D38-46673985C06B}" destId="{E190964E-BB3C-0543-9A54-5BA94D8F6F62}" srcOrd="0" destOrd="0" parTransId="{364ED554-6D44-7C4C-835B-6753A4337B3F}" sibTransId="{527E5B48-E6B3-D946-9554-C06EE246DC6C}"/>
    <dgm:cxn modelId="{67F1761F-1871-1F4F-8C44-F64D356839E8}" type="presOf" srcId="{E190964E-BB3C-0543-9A54-5BA94D8F6F62}" destId="{473DA392-E438-8542-A58D-1F149A005168}" srcOrd="0" destOrd="0" presId="urn:microsoft.com/office/officeart/2005/8/layout/hList1"/>
    <dgm:cxn modelId="{FF946226-49BB-2545-BC9E-3D9B1FB16B56}" srcId="{262EFF58-1CB6-8944-B79C-C59B7E8DE895}" destId="{8530C1D6-EEB1-8A4D-8154-87D791F6BC26}" srcOrd="2" destOrd="0" parTransId="{6C5B02A1-9D1D-5441-B563-9BA5C7E7D04F}" sibTransId="{7F9F3ED0-0E19-8146-8061-4DFA9E040F6D}"/>
    <dgm:cxn modelId="{A9C63E44-3F77-FC44-BABF-3C62623C1F1C}" type="presOf" srcId="{21B5BC44-63F6-B54D-AD7E-320819AF5EA1}" destId="{42229F31-39CB-EF43-8CE7-7CE58142B754}" srcOrd="0" destOrd="0" presId="urn:microsoft.com/office/officeart/2005/8/layout/hList1"/>
    <dgm:cxn modelId="{C4F98044-9E4F-9F45-A223-43C81599DB2C}" srcId="{C9CEE239-4265-0741-B96E-0CA6EC746F4D}" destId="{62F6C7AC-E1B3-FE48-85DC-D789B1598962}" srcOrd="1" destOrd="0" parTransId="{F8A69D17-13CF-0C45-A628-E10350AEEF3F}" sibTransId="{CE59917B-26DA-614E-8A10-A84DBF0D59A3}"/>
    <dgm:cxn modelId="{47D9154F-226A-ED4D-8BEC-FC5468F9CE7F}" type="presOf" srcId="{8530C1D6-EEB1-8A4D-8154-87D791F6BC26}" destId="{42229F31-39CB-EF43-8CE7-7CE58142B754}" srcOrd="0" destOrd="2" presId="urn:microsoft.com/office/officeart/2005/8/layout/hList1"/>
    <dgm:cxn modelId="{478CCB50-5947-E14D-9F34-E0B37D68357A}" type="presOf" srcId="{262EFF58-1CB6-8944-B79C-C59B7E8DE895}" destId="{020AB742-9DE8-0A4D-ABB2-E72809626DD1}" srcOrd="0" destOrd="0" presId="urn:microsoft.com/office/officeart/2005/8/layout/hList1"/>
    <dgm:cxn modelId="{58500656-6FC2-2543-A0D7-655727C9B702}" srcId="{D09F9EDD-C636-EC43-88FF-49096AE9C210}" destId="{262EFF58-1CB6-8944-B79C-C59B7E8DE895}" srcOrd="0" destOrd="0" parTransId="{1121F35E-67B7-B641-8FB0-A2EC53A83499}" sibTransId="{1301146F-FE59-ED49-AAA0-59F06031B267}"/>
    <dgm:cxn modelId="{551F4F5A-B79C-104E-A2A2-F64734D603D0}" type="presOf" srcId="{B9843259-4796-304D-9D38-46673985C06B}" destId="{AF4E56B2-E421-5A4A-8CC2-EEF684763770}" srcOrd="0" destOrd="0" presId="urn:microsoft.com/office/officeart/2005/8/layout/hList1"/>
    <dgm:cxn modelId="{E010125D-E110-FC46-949F-74E1F91D9F41}" type="presOf" srcId="{E7785348-92ED-D84A-BD61-A6E6BEDC36B7}" destId="{42229F31-39CB-EF43-8CE7-7CE58142B754}" srcOrd="0" destOrd="1" presId="urn:microsoft.com/office/officeart/2005/8/layout/hList1"/>
    <dgm:cxn modelId="{89B51C6D-5D85-D74A-BC88-A8371E94CCE2}" srcId="{C9CEE239-4265-0741-B96E-0CA6EC746F4D}" destId="{35DFA55F-043C-844D-9922-D076EE2B354C}" srcOrd="0" destOrd="0" parTransId="{9B922104-70B6-0748-AA43-08F2B383EE29}" sibTransId="{182754C2-03A7-6441-B071-576B0D458565}"/>
    <dgm:cxn modelId="{69ECB771-C7A4-2941-82DD-285C2BEF6A01}" srcId="{262EFF58-1CB6-8944-B79C-C59B7E8DE895}" destId="{E7785348-92ED-D84A-BD61-A6E6BEDC36B7}" srcOrd="1" destOrd="0" parTransId="{9042A4A8-64CC-5545-AD62-499B2A87729D}" sibTransId="{55D25B2C-4DE4-0C4A-8434-BB0471286B31}"/>
    <dgm:cxn modelId="{FF3CC279-39A6-3D48-AFD7-DC7B0FBBB828}" type="presOf" srcId="{AB2106A5-A5F7-AC4A-AA1F-3EAA8912DFE1}" destId="{473DA392-E438-8542-A58D-1F149A005168}" srcOrd="0" destOrd="1" presId="urn:microsoft.com/office/officeart/2005/8/layout/hList1"/>
    <dgm:cxn modelId="{7C6C597A-BDED-1B4E-8C73-B6EB7F6FEC19}" srcId="{262EFF58-1CB6-8944-B79C-C59B7E8DE895}" destId="{21B5BC44-63F6-B54D-AD7E-320819AF5EA1}" srcOrd="0" destOrd="0" parTransId="{F8DEAA28-D155-624F-B2E7-9AE26298EF5C}" sibTransId="{39C7E5AE-F999-B547-9158-7E1DF29A698B}"/>
    <dgm:cxn modelId="{17E1F184-290B-2B48-9B9A-DED1EDE53DD9}" type="presOf" srcId="{62F6C7AC-E1B3-FE48-85DC-D789B1598962}" destId="{28936A10-E7B5-5D40-BAC4-05B1243E5DE9}" srcOrd="0" destOrd="1" presId="urn:microsoft.com/office/officeart/2005/8/layout/hList1"/>
    <dgm:cxn modelId="{3D4E8CAC-C3F4-F54D-99EB-7B7DCD6BCF9A}" srcId="{D09F9EDD-C636-EC43-88FF-49096AE9C210}" destId="{B9843259-4796-304D-9D38-46673985C06B}" srcOrd="1" destOrd="0" parTransId="{1A3F40A8-B7D5-1F4C-81A7-9BAC1F817DED}" sibTransId="{332DD5F6-9466-534E-A885-546CD8536C5D}"/>
    <dgm:cxn modelId="{0BE957BA-D116-6846-86E8-A923F06D28CF}" type="presOf" srcId="{FEE9A27B-A102-2042-98F7-337B70E2CA25}" destId="{28936A10-E7B5-5D40-BAC4-05B1243E5DE9}" srcOrd="0" destOrd="2" presId="urn:microsoft.com/office/officeart/2005/8/layout/hList1"/>
    <dgm:cxn modelId="{38A7F2E7-EE22-814F-8C8B-A2ECE82AB67A}" srcId="{C9CEE239-4265-0741-B96E-0CA6EC746F4D}" destId="{FEE9A27B-A102-2042-98F7-337B70E2CA25}" srcOrd="2" destOrd="0" parTransId="{9B768E76-AC34-4D47-8843-91B4E87DDBFB}" sibTransId="{C4849DD7-20CE-5F4D-8E34-4448873F4441}"/>
    <dgm:cxn modelId="{3BC0D7E8-DE0A-BF4A-8263-1448277213FE}" type="presOf" srcId="{35DFA55F-043C-844D-9922-D076EE2B354C}" destId="{28936A10-E7B5-5D40-BAC4-05B1243E5DE9}" srcOrd="0" destOrd="0" presId="urn:microsoft.com/office/officeart/2005/8/layout/hList1"/>
    <dgm:cxn modelId="{6721AFF5-606F-5549-B49F-7224DAAD2C31}" type="presOf" srcId="{C9CEE239-4265-0741-B96E-0CA6EC746F4D}" destId="{E011CE80-3664-214A-90DC-63929AA54979}" srcOrd="0" destOrd="0" presId="urn:microsoft.com/office/officeart/2005/8/layout/hList1"/>
    <dgm:cxn modelId="{0695DDF6-7F4C-674B-83A5-93108856FFF3}" srcId="{D09F9EDD-C636-EC43-88FF-49096AE9C210}" destId="{C9CEE239-4265-0741-B96E-0CA6EC746F4D}" srcOrd="2" destOrd="0" parTransId="{3E2FF679-896A-7C4E-8A02-32D97FD80767}" sibTransId="{41935AD4-542A-3344-974E-53B2FAC35B1E}"/>
    <dgm:cxn modelId="{220790F7-A178-6E49-8DF4-EF0A0FF277BA}" srcId="{B9843259-4796-304D-9D38-46673985C06B}" destId="{AB2106A5-A5F7-AC4A-AA1F-3EAA8912DFE1}" srcOrd="1" destOrd="0" parTransId="{0054C8F3-ED19-574D-979C-515FAA56C2F6}" sibTransId="{CECDEF2F-566D-4C48-94EF-2098A089D8CC}"/>
    <dgm:cxn modelId="{D106C6F8-DC69-AA4B-BFFF-B4AD800AA6B8}" type="presOf" srcId="{D09F9EDD-C636-EC43-88FF-49096AE9C210}" destId="{C7851805-C01A-0049-8816-3F911A8CF544}" srcOrd="0" destOrd="0" presId="urn:microsoft.com/office/officeart/2005/8/layout/hList1"/>
    <dgm:cxn modelId="{4A7C27DA-38B2-BD48-8387-E8579685CCAF}" type="presParOf" srcId="{C7851805-C01A-0049-8816-3F911A8CF544}" destId="{DD8E76DD-9A3E-8F4D-BDF8-46D587571A51}" srcOrd="0" destOrd="0" presId="urn:microsoft.com/office/officeart/2005/8/layout/hList1"/>
    <dgm:cxn modelId="{2D1F9500-E4E4-0D45-B05D-9615D64BD04C}" type="presParOf" srcId="{DD8E76DD-9A3E-8F4D-BDF8-46D587571A51}" destId="{020AB742-9DE8-0A4D-ABB2-E72809626DD1}" srcOrd="0" destOrd="0" presId="urn:microsoft.com/office/officeart/2005/8/layout/hList1"/>
    <dgm:cxn modelId="{1605B5F9-773E-434F-8B51-0ACBA435C655}" type="presParOf" srcId="{DD8E76DD-9A3E-8F4D-BDF8-46D587571A51}" destId="{42229F31-39CB-EF43-8CE7-7CE58142B754}" srcOrd="1" destOrd="0" presId="urn:microsoft.com/office/officeart/2005/8/layout/hList1"/>
    <dgm:cxn modelId="{35B6EFBD-58EF-F949-8ACF-B4B6ECB37222}" type="presParOf" srcId="{C7851805-C01A-0049-8816-3F911A8CF544}" destId="{215169AF-D50A-FB43-A447-CF51AD170984}" srcOrd="1" destOrd="0" presId="urn:microsoft.com/office/officeart/2005/8/layout/hList1"/>
    <dgm:cxn modelId="{003E7787-1867-1C44-822E-5B9E07878E7C}" type="presParOf" srcId="{C7851805-C01A-0049-8816-3F911A8CF544}" destId="{98867157-044A-0046-956F-DB585268B32D}" srcOrd="2" destOrd="0" presId="urn:microsoft.com/office/officeart/2005/8/layout/hList1"/>
    <dgm:cxn modelId="{02F06AC5-9592-E542-8755-245B7CEBAC1C}" type="presParOf" srcId="{98867157-044A-0046-956F-DB585268B32D}" destId="{AF4E56B2-E421-5A4A-8CC2-EEF684763770}" srcOrd="0" destOrd="0" presId="urn:microsoft.com/office/officeart/2005/8/layout/hList1"/>
    <dgm:cxn modelId="{5264B52C-4459-1E4C-B45E-6CA9A9C9E448}" type="presParOf" srcId="{98867157-044A-0046-956F-DB585268B32D}" destId="{473DA392-E438-8542-A58D-1F149A005168}" srcOrd="1" destOrd="0" presId="urn:microsoft.com/office/officeart/2005/8/layout/hList1"/>
    <dgm:cxn modelId="{8FF5C308-1FAB-494B-BC91-6A8CF8087905}" type="presParOf" srcId="{C7851805-C01A-0049-8816-3F911A8CF544}" destId="{9F752573-E045-5941-AA8D-C8F4F47C2356}" srcOrd="3" destOrd="0" presId="urn:microsoft.com/office/officeart/2005/8/layout/hList1"/>
    <dgm:cxn modelId="{0647A3F7-617E-2541-9694-27092092881D}" type="presParOf" srcId="{C7851805-C01A-0049-8816-3F911A8CF544}" destId="{8DACCB91-CCD1-154F-9DFC-0BB1CCA8876E}" srcOrd="4" destOrd="0" presId="urn:microsoft.com/office/officeart/2005/8/layout/hList1"/>
    <dgm:cxn modelId="{688281F0-74F5-F949-BFC6-51242AFD70FD}" type="presParOf" srcId="{8DACCB91-CCD1-154F-9DFC-0BB1CCA8876E}" destId="{E011CE80-3664-214A-90DC-63929AA54979}" srcOrd="0" destOrd="0" presId="urn:microsoft.com/office/officeart/2005/8/layout/hList1"/>
    <dgm:cxn modelId="{3FCBE8D7-3CE2-8F41-B575-7BC715992D3F}" type="presParOf" srcId="{8DACCB91-CCD1-154F-9DFC-0BB1CCA8876E}" destId="{28936A10-E7B5-5D40-BAC4-05B1243E5DE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9F9EDD-C636-EC43-88FF-49096AE9C210}" type="doc">
      <dgm:prSet loTypeId="urn:microsoft.com/office/officeart/2005/8/layout/hList1" loCatId="list" qsTypeId="urn:microsoft.com/office/officeart/2005/8/quickstyle/simple1#31" qsCatId="simple" csTypeId="urn:microsoft.com/office/officeart/2005/8/colors/colorful1#3" csCatId="colorful" phldr="1"/>
      <dgm:spPr/>
      <dgm:t>
        <a:bodyPr/>
        <a:lstStyle/>
        <a:p>
          <a:endParaRPr lang="en-US"/>
        </a:p>
      </dgm:t>
    </dgm:pt>
    <dgm:pt modelId="{E7785348-92ED-D84A-BD61-A6E6BEDC36B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accent3"/>
              </a:solidFill>
            </a:rPr>
            <a:t>Feature engineering</a:t>
          </a:r>
        </a:p>
      </dgm:t>
    </dgm:pt>
    <dgm:pt modelId="{9042A4A8-64CC-5545-AD62-499B2A87729D}" type="parTrans" cxnId="{69ECB771-C7A4-2941-82DD-285C2BEF6A01}">
      <dgm:prSet/>
      <dgm:spPr/>
      <dgm:t>
        <a:bodyPr/>
        <a:lstStyle/>
        <a:p>
          <a:endParaRPr lang="en-US"/>
        </a:p>
      </dgm:t>
    </dgm:pt>
    <dgm:pt modelId="{55D25B2C-4DE4-0C4A-8434-BB0471286B31}" type="sibTrans" cxnId="{69ECB771-C7A4-2941-82DD-285C2BEF6A01}">
      <dgm:prSet/>
      <dgm:spPr/>
      <dgm:t>
        <a:bodyPr/>
        <a:lstStyle/>
        <a:p>
          <a:endParaRPr lang="en-US"/>
        </a:p>
      </dgm:t>
    </dgm:pt>
    <dgm:pt modelId="{B9843259-4796-304D-9D38-46673985C06B}">
      <dgm:prSet/>
      <dgm:spPr/>
      <dgm:t>
        <a:bodyPr/>
        <a:lstStyle/>
        <a:p>
          <a:r>
            <a:rPr lang="en-US" b="1" dirty="0"/>
            <a:t>Classification task</a:t>
          </a:r>
        </a:p>
      </dgm:t>
    </dgm:pt>
    <dgm:pt modelId="{1A3F40A8-B7D5-1F4C-81A7-9BAC1F817DED}" type="parTrans" cxnId="{3D4E8CAC-C3F4-F54D-99EB-7B7DCD6BCF9A}">
      <dgm:prSet/>
      <dgm:spPr/>
      <dgm:t>
        <a:bodyPr/>
        <a:lstStyle/>
        <a:p>
          <a:endParaRPr lang="en-US"/>
        </a:p>
      </dgm:t>
    </dgm:pt>
    <dgm:pt modelId="{332DD5F6-9466-534E-A885-546CD8536C5D}" type="sibTrans" cxnId="{3D4E8CAC-C3F4-F54D-99EB-7B7DCD6BCF9A}">
      <dgm:prSet/>
      <dgm:spPr/>
      <dgm:t>
        <a:bodyPr/>
        <a:lstStyle/>
        <a:p>
          <a:endParaRPr lang="en-US"/>
        </a:p>
      </dgm:t>
    </dgm:pt>
    <dgm:pt modelId="{AB2106A5-A5F7-AC4A-AA1F-3EAA8912DFE1}">
      <dgm:prSet/>
      <dgm:spPr/>
      <dgm:t>
        <a:bodyPr/>
        <a:lstStyle/>
        <a:p>
          <a:r>
            <a:rPr lang="en-US" b="1" u="none" strike="sngStrike" dirty="0"/>
            <a:t>Triple</a:t>
          </a:r>
          <a:r>
            <a:rPr lang="en-US" u="none" strike="sngStrike" dirty="0"/>
            <a:t>: only classes 1 to 3</a:t>
          </a:r>
        </a:p>
      </dgm:t>
    </dgm:pt>
    <dgm:pt modelId="{0054C8F3-ED19-574D-979C-515FAA56C2F6}" type="parTrans" cxnId="{220790F7-A178-6E49-8DF4-EF0A0FF277BA}">
      <dgm:prSet/>
      <dgm:spPr/>
      <dgm:t>
        <a:bodyPr/>
        <a:lstStyle/>
        <a:p>
          <a:endParaRPr lang="en-US"/>
        </a:p>
      </dgm:t>
    </dgm:pt>
    <dgm:pt modelId="{CECDEF2F-566D-4C48-94EF-2098A089D8CC}" type="sibTrans" cxnId="{220790F7-A178-6E49-8DF4-EF0A0FF277BA}">
      <dgm:prSet/>
      <dgm:spPr/>
      <dgm:t>
        <a:bodyPr/>
        <a:lstStyle/>
        <a:p>
          <a:endParaRPr lang="en-US"/>
        </a:p>
      </dgm:t>
    </dgm:pt>
    <dgm:pt modelId="{8530C1D6-EEB1-8A4D-8154-87D791F6BC2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trike="sngStrike" dirty="0"/>
            <a:t>Different train/test </a:t>
          </a:r>
          <a:r>
            <a:rPr lang="en-US" u="none" strike="sngStrike" dirty="0"/>
            <a:t>split</a:t>
          </a:r>
        </a:p>
      </dgm:t>
    </dgm:pt>
    <dgm:pt modelId="{6C5B02A1-9D1D-5441-B563-9BA5C7E7D04F}" type="parTrans" cxnId="{FF946226-49BB-2545-BC9E-3D9B1FB16B56}">
      <dgm:prSet/>
      <dgm:spPr/>
      <dgm:t>
        <a:bodyPr/>
        <a:lstStyle/>
        <a:p>
          <a:endParaRPr lang="en-US"/>
        </a:p>
      </dgm:t>
    </dgm:pt>
    <dgm:pt modelId="{7F9F3ED0-0E19-8146-8061-4DFA9E040F6D}" type="sibTrans" cxnId="{FF946226-49BB-2545-BC9E-3D9B1FB16B56}">
      <dgm:prSet/>
      <dgm:spPr/>
      <dgm:t>
        <a:bodyPr/>
        <a:lstStyle/>
        <a:p>
          <a:endParaRPr lang="en-US"/>
        </a:p>
      </dgm:t>
    </dgm:pt>
    <dgm:pt modelId="{FEE9A27B-A102-2042-98F7-337B70E2CA2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>
              <a:solidFill>
                <a:schemeClr val="accent3"/>
              </a:solidFill>
            </a:rPr>
            <a:t>HPO</a:t>
          </a:r>
          <a:r>
            <a:rPr lang="en-US" dirty="0">
              <a:solidFill>
                <a:schemeClr val="accent3"/>
              </a:solidFill>
            </a:rPr>
            <a:t>: transformer</a:t>
          </a:r>
        </a:p>
      </dgm:t>
    </dgm:pt>
    <dgm:pt modelId="{9B768E76-AC34-4D47-8843-91B4E87DDBFB}" type="parTrans" cxnId="{38A7F2E7-EE22-814F-8C8B-A2ECE82AB67A}">
      <dgm:prSet/>
      <dgm:spPr/>
      <dgm:t>
        <a:bodyPr/>
        <a:lstStyle/>
        <a:p>
          <a:endParaRPr lang="en-US"/>
        </a:p>
      </dgm:t>
    </dgm:pt>
    <dgm:pt modelId="{C4849DD7-20CE-5F4D-8E34-4448873F4441}" type="sibTrans" cxnId="{38A7F2E7-EE22-814F-8C8B-A2ECE82AB67A}">
      <dgm:prSet/>
      <dgm:spPr/>
      <dgm:t>
        <a:bodyPr/>
        <a:lstStyle/>
        <a:p>
          <a:endParaRPr lang="en-US"/>
        </a:p>
      </dgm:t>
    </dgm:pt>
    <dgm:pt modelId="{C9CEE239-4265-0741-B96E-0CA6EC746F4D}">
      <dgm:prSet/>
      <dgm:spPr/>
      <dgm:t>
        <a:bodyPr/>
        <a:lstStyle/>
        <a:p>
          <a:r>
            <a:rPr lang="en-US" b="1" dirty="0"/>
            <a:t>Modeling</a:t>
          </a:r>
        </a:p>
      </dgm:t>
    </dgm:pt>
    <dgm:pt modelId="{3E2FF679-896A-7C4E-8A02-32D97FD80767}" type="parTrans" cxnId="{0695DDF6-7F4C-674B-83A5-93108856FFF3}">
      <dgm:prSet/>
      <dgm:spPr/>
      <dgm:t>
        <a:bodyPr/>
        <a:lstStyle/>
        <a:p>
          <a:endParaRPr lang="en-US"/>
        </a:p>
      </dgm:t>
    </dgm:pt>
    <dgm:pt modelId="{41935AD4-542A-3344-974E-53B2FAC35B1E}" type="sibTrans" cxnId="{0695DDF6-7F4C-674B-83A5-93108856FFF3}">
      <dgm:prSet/>
      <dgm:spPr/>
      <dgm:t>
        <a:bodyPr/>
        <a:lstStyle/>
        <a:p>
          <a:endParaRPr lang="en-US"/>
        </a:p>
      </dgm:t>
    </dgm:pt>
    <dgm:pt modelId="{35DFA55F-043C-844D-9922-D076EE2B354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strike="sngStrike" dirty="0" err="1"/>
            <a:t>xLSTM</a:t>
          </a:r>
          <a:r>
            <a:rPr lang="en-US" strike="sngStrike" dirty="0"/>
            <a:t> (m and s)</a:t>
          </a:r>
        </a:p>
      </dgm:t>
    </dgm:pt>
    <dgm:pt modelId="{9B922104-70B6-0748-AA43-08F2B383EE29}" type="parTrans" cxnId="{89B51C6D-5D85-D74A-BC88-A8371E94CCE2}">
      <dgm:prSet/>
      <dgm:spPr/>
      <dgm:t>
        <a:bodyPr/>
        <a:lstStyle/>
        <a:p>
          <a:endParaRPr lang="en-US"/>
        </a:p>
      </dgm:t>
    </dgm:pt>
    <dgm:pt modelId="{182754C2-03A7-6441-B071-576B0D458565}" type="sibTrans" cxnId="{89B51C6D-5D85-D74A-BC88-A8371E94CCE2}">
      <dgm:prSet/>
      <dgm:spPr/>
      <dgm:t>
        <a:bodyPr/>
        <a:lstStyle/>
        <a:p>
          <a:endParaRPr lang="en-US"/>
        </a:p>
      </dgm:t>
    </dgm:pt>
    <dgm:pt modelId="{62F6C7AC-E1B3-FE48-85DC-D789B159896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strike="sngStrike" dirty="0"/>
            <a:t>Foundation model</a:t>
          </a:r>
          <a:r>
            <a:rPr lang="en-US" strike="sngStrike" dirty="0"/>
            <a:t>: MantisV2</a:t>
          </a:r>
        </a:p>
      </dgm:t>
    </dgm:pt>
    <dgm:pt modelId="{F8A69D17-13CF-0C45-A628-E10350AEEF3F}" type="parTrans" cxnId="{C4F98044-9E4F-9F45-A223-43C81599DB2C}">
      <dgm:prSet/>
      <dgm:spPr/>
      <dgm:t>
        <a:bodyPr/>
        <a:lstStyle/>
        <a:p>
          <a:endParaRPr lang="en-US"/>
        </a:p>
      </dgm:t>
    </dgm:pt>
    <dgm:pt modelId="{CE59917B-26DA-614E-8A10-A84DBF0D59A3}" type="sibTrans" cxnId="{C4F98044-9E4F-9F45-A223-43C81599DB2C}">
      <dgm:prSet/>
      <dgm:spPr/>
      <dgm:t>
        <a:bodyPr/>
        <a:lstStyle/>
        <a:p>
          <a:endParaRPr lang="en-US"/>
        </a:p>
      </dgm:t>
    </dgm:pt>
    <dgm:pt modelId="{262EFF58-1CB6-8944-B79C-C59B7E8DE895}">
      <dgm:prSet phldrT="[Text]"/>
      <dgm:spPr/>
      <dgm:t>
        <a:bodyPr/>
        <a:lstStyle/>
        <a:p>
          <a:r>
            <a:rPr lang="en-US" b="1" dirty="0"/>
            <a:t>Data approach</a:t>
          </a:r>
        </a:p>
      </dgm:t>
    </dgm:pt>
    <dgm:pt modelId="{1121F35E-67B7-B641-8FB0-A2EC53A83499}" type="parTrans" cxnId="{58500656-6FC2-2543-A0D7-655727C9B702}">
      <dgm:prSet/>
      <dgm:spPr/>
      <dgm:t>
        <a:bodyPr/>
        <a:lstStyle/>
        <a:p>
          <a:endParaRPr lang="en-US"/>
        </a:p>
      </dgm:t>
    </dgm:pt>
    <dgm:pt modelId="{1301146F-FE59-ED49-AAA0-59F06031B267}" type="sibTrans" cxnId="{58500656-6FC2-2543-A0D7-655727C9B702}">
      <dgm:prSet/>
      <dgm:spPr/>
      <dgm:t>
        <a:bodyPr/>
        <a:lstStyle/>
        <a:p>
          <a:endParaRPr lang="en-US"/>
        </a:p>
      </dgm:t>
    </dgm:pt>
    <dgm:pt modelId="{21B5BC44-63F6-B54D-AD7E-320819AF5EA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trike="sngStrike" dirty="0"/>
            <a:t>More data exploration</a:t>
          </a:r>
        </a:p>
      </dgm:t>
    </dgm:pt>
    <dgm:pt modelId="{39C7E5AE-F999-B547-9158-7E1DF29A698B}" type="sibTrans" cxnId="{7C6C597A-BDED-1B4E-8C73-B6EB7F6FEC19}">
      <dgm:prSet/>
      <dgm:spPr/>
      <dgm:t>
        <a:bodyPr/>
        <a:lstStyle/>
        <a:p>
          <a:endParaRPr lang="en-US"/>
        </a:p>
      </dgm:t>
    </dgm:pt>
    <dgm:pt modelId="{F8DEAA28-D155-624F-B2E7-9AE26298EF5C}" type="parTrans" cxnId="{7C6C597A-BDED-1B4E-8C73-B6EB7F6FEC19}">
      <dgm:prSet/>
      <dgm:spPr/>
      <dgm:t>
        <a:bodyPr/>
        <a:lstStyle/>
        <a:p>
          <a:endParaRPr lang="en-US"/>
        </a:p>
      </dgm:t>
    </dgm:pt>
    <dgm:pt modelId="{E190964E-BB3C-0543-9A54-5BA94D8F6F62}">
      <dgm:prSet/>
      <dgm:spPr/>
      <dgm:t>
        <a:bodyPr/>
        <a:lstStyle/>
        <a:p>
          <a:r>
            <a:rPr lang="en-US" b="1" dirty="0">
              <a:solidFill>
                <a:schemeClr val="accent3"/>
              </a:solidFill>
            </a:rPr>
            <a:t>Binary</a:t>
          </a:r>
          <a:r>
            <a:rPr lang="en-US" dirty="0">
              <a:solidFill>
                <a:schemeClr val="accent3"/>
              </a:solidFill>
            </a:rPr>
            <a:t>: healthy vs disease</a:t>
          </a:r>
        </a:p>
      </dgm:t>
    </dgm:pt>
    <dgm:pt modelId="{364ED554-6D44-7C4C-835B-6753A4337B3F}" type="parTrans" cxnId="{EBABF910-85AC-C145-B1EE-D30BDE686789}">
      <dgm:prSet/>
      <dgm:spPr/>
      <dgm:t>
        <a:bodyPr/>
        <a:lstStyle/>
        <a:p>
          <a:endParaRPr lang="en-US"/>
        </a:p>
      </dgm:t>
    </dgm:pt>
    <dgm:pt modelId="{527E5B48-E6B3-D946-9554-C06EE246DC6C}" type="sibTrans" cxnId="{EBABF910-85AC-C145-B1EE-D30BDE686789}">
      <dgm:prSet/>
      <dgm:spPr/>
      <dgm:t>
        <a:bodyPr/>
        <a:lstStyle/>
        <a:p>
          <a:endParaRPr lang="en-US"/>
        </a:p>
      </dgm:t>
    </dgm:pt>
    <dgm:pt modelId="{C7851805-C01A-0049-8816-3F911A8CF544}" type="pres">
      <dgm:prSet presAssocID="{D09F9EDD-C636-EC43-88FF-49096AE9C210}" presName="Name0" presStyleCnt="0">
        <dgm:presLayoutVars>
          <dgm:dir/>
          <dgm:animLvl val="lvl"/>
          <dgm:resizeHandles val="exact"/>
        </dgm:presLayoutVars>
      </dgm:prSet>
      <dgm:spPr/>
    </dgm:pt>
    <dgm:pt modelId="{DD8E76DD-9A3E-8F4D-BDF8-46D587571A51}" type="pres">
      <dgm:prSet presAssocID="{262EFF58-1CB6-8944-B79C-C59B7E8DE895}" presName="composite" presStyleCnt="0"/>
      <dgm:spPr/>
    </dgm:pt>
    <dgm:pt modelId="{020AB742-9DE8-0A4D-ABB2-E72809626DD1}" type="pres">
      <dgm:prSet presAssocID="{262EFF58-1CB6-8944-B79C-C59B7E8DE895}" presName="parTx" presStyleLbl="alignNode1" presStyleIdx="0" presStyleCnt="3" custLinFactNeighborX="-2310">
        <dgm:presLayoutVars>
          <dgm:chMax val="0"/>
          <dgm:chPref val="0"/>
          <dgm:bulletEnabled val="1"/>
        </dgm:presLayoutVars>
      </dgm:prSet>
      <dgm:spPr>
        <a:prstGeom prst="rect">
          <a:avLst/>
        </a:prstGeom>
      </dgm:spPr>
    </dgm:pt>
    <dgm:pt modelId="{42229F31-39CB-EF43-8CE7-7CE58142B754}" type="pres">
      <dgm:prSet presAssocID="{262EFF58-1CB6-8944-B79C-C59B7E8DE895}" presName="desTx" presStyleLbl="alignAccFollowNode1" presStyleIdx="0" presStyleCnt="3">
        <dgm:presLayoutVars>
          <dgm:bulletEnabled val="1"/>
        </dgm:presLayoutVars>
      </dgm:prSet>
      <dgm:spPr/>
    </dgm:pt>
    <dgm:pt modelId="{215169AF-D50A-FB43-A447-CF51AD170984}" type="pres">
      <dgm:prSet presAssocID="{1301146F-FE59-ED49-AAA0-59F06031B267}" presName="space" presStyleCnt="0"/>
      <dgm:spPr/>
    </dgm:pt>
    <dgm:pt modelId="{98867157-044A-0046-956F-DB585268B32D}" type="pres">
      <dgm:prSet presAssocID="{B9843259-4796-304D-9D38-46673985C06B}" presName="composite" presStyleCnt="0"/>
      <dgm:spPr/>
    </dgm:pt>
    <dgm:pt modelId="{AF4E56B2-E421-5A4A-8CC2-EEF684763770}" type="pres">
      <dgm:prSet presAssocID="{B9843259-4796-304D-9D38-46673985C06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73DA392-E438-8542-A58D-1F149A005168}" type="pres">
      <dgm:prSet presAssocID="{B9843259-4796-304D-9D38-46673985C06B}" presName="desTx" presStyleLbl="alignAccFollowNode1" presStyleIdx="1" presStyleCnt="3">
        <dgm:presLayoutVars>
          <dgm:bulletEnabled val="1"/>
        </dgm:presLayoutVars>
      </dgm:prSet>
      <dgm:spPr/>
    </dgm:pt>
    <dgm:pt modelId="{9F752573-E045-5941-AA8D-C8F4F47C2356}" type="pres">
      <dgm:prSet presAssocID="{332DD5F6-9466-534E-A885-546CD8536C5D}" presName="space" presStyleCnt="0"/>
      <dgm:spPr/>
    </dgm:pt>
    <dgm:pt modelId="{8DACCB91-CCD1-154F-9DFC-0BB1CCA8876E}" type="pres">
      <dgm:prSet presAssocID="{C9CEE239-4265-0741-B96E-0CA6EC746F4D}" presName="composite" presStyleCnt="0"/>
      <dgm:spPr/>
    </dgm:pt>
    <dgm:pt modelId="{E011CE80-3664-214A-90DC-63929AA54979}" type="pres">
      <dgm:prSet presAssocID="{C9CEE239-4265-0741-B96E-0CA6EC746F4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8936A10-E7B5-5D40-BAC4-05B1243E5DE9}" type="pres">
      <dgm:prSet presAssocID="{C9CEE239-4265-0741-B96E-0CA6EC746F4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EBABF910-85AC-C145-B1EE-D30BDE686789}" srcId="{B9843259-4796-304D-9D38-46673985C06B}" destId="{E190964E-BB3C-0543-9A54-5BA94D8F6F62}" srcOrd="0" destOrd="0" parTransId="{364ED554-6D44-7C4C-835B-6753A4337B3F}" sibTransId="{527E5B48-E6B3-D946-9554-C06EE246DC6C}"/>
    <dgm:cxn modelId="{67F1761F-1871-1F4F-8C44-F64D356839E8}" type="presOf" srcId="{E190964E-BB3C-0543-9A54-5BA94D8F6F62}" destId="{473DA392-E438-8542-A58D-1F149A005168}" srcOrd="0" destOrd="0" presId="urn:microsoft.com/office/officeart/2005/8/layout/hList1"/>
    <dgm:cxn modelId="{FF946226-49BB-2545-BC9E-3D9B1FB16B56}" srcId="{262EFF58-1CB6-8944-B79C-C59B7E8DE895}" destId="{8530C1D6-EEB1-8A4D-8154-87D791F6BC26}" srcOrd="2" destOrd="0" parTransId="{6C5B02A1-9D1D-5441-B563-9BA5C7E7D04F}" sibTransId="{7F9F3ED0-0E19-8146-8061-4DFA9E040F6D}"/>
    <dgm:cxn modelId="{A9C63E44-3F77-FC44-BABF-3C62623C1F1C}" type="presOf" srcId="{21B5BC44-63F6-B54D-AD7E-320819AF5EA1}" destId="{42229F31-39CB-EF43-8CE7-7CE58142B754}" srcOrd="0" destOrd="0" presId="urn:microsoft.com/office/officeart/2005/8/layout/hList1"/>
    <dgm:cxn modelId="{C4F98044-9E4F-9F45-A223-43C81599DB2C}" srcId="{C9CEE239-4265-0741-B96E-0CA6EC746F4D}" destId="{62F6C7AC-E1B3-FE48-85DC-D789B1598962}" srcOrd="1" destOrd="0" parTransId="{F8A69D17-13CF-0C45-A628-E10350AEEF3F}" sibTransId="{CE59917B-26DA-614E-8A10-A84DBF0D59A3}"/>
    <dgm:cxn modelId="{47D9154F-226A-ED4D-8BEC-FC5468F9CE7F}" type="presOf" srcId="{8530C1D6-EEB1-8A4D-8154-87D791F6BC26}" destId="{42229F31-39CB-EF43-8CE7-7CE58142B754}" srcOrd="0" destOrd="2" presId="urn:microsoft.com/office/officeart/2005/8/layout/hList1"/>
    <dgm:cxn modelId="{478CCB50-5947-E14D-9F34-E0B37D68357A}" type="presOf" srcId="{262EFF58-1CB6-8944-B79C-C59B7E8DE895}" destId="{020AB742-9DE8-0A4D-ABB2-E72809626DD1}" srcOrd="0" destOrd="0" presId="urn:microsoft.com/office/officeart/2005/8/layout/hList1"/>
    <dgm:cxn modelId="{58500656-6FC2-2543-A0D7-655727C9B702}" srcId="{D09F9EDD-C636-EC43-88FF-49096AE9C210}" destId="{262EFF58-1CB6-8944-B79C-C59B7E8DE895}" srcOrd="0" destOrd="0" parTransId="{1121F35E-67B7-B641-8FB0-A2EC53A83499}" sibTransId="{1301146F-FE59-ED49-AAA0-59F06031B267}"/>
    <dgm:cxn modelId="{551F4F5A-B79C-104E-A2A2-F64734D603D0}" type="presOf" srcId="{B9843259-4796-304D-9D38-46673985C06B}" destId="{AF4E56B2-E421-5A4A-8CC2-EEF684763770}" srcOrd="0" destOrd="0" presId="urn:microsoft.com/office/officeart/2005/8/layout/hList1"/>
    <dgm:cxn modelId="{E010125D-E110-FC46-949F-74E1F91D9F41}" type="presOf" srcId="{E7785348-92ED-D84A-BD61-A6E6BEDC36B7}" destId="{42229F31-39CB-EF43-8CE7-7CE58142B754}" srcOrd="0" destOrd="1" presId="urn:microsoft.com/office/officeart/2005/8/layout/hList1"/>
    <dgm:cxn modelId="{89B51C6D-5D85-D74A-BC88-A8371E94CCE2}" srcId="{C9CEE239-4265-0741-B96E-0CA6EC746F4D}" destId="{35DFA55F-043C-844D-9922-D076EE2B354C}" srcOrd="0" destOrd="0" parTransId="{9B922104-70B6-0748-AA43-08F2B383EE29}" sibTransId="{182754C2-03A7-6441-B071-576B0D458565}"/>
    <dgm:cxn modelId="{69ECB771-C7A4-2941-82DD-285C2BEF6A01}" srcId="{262EFF58-1CB6-8944-B79C-C59B7E8DE895}" destId="{E7785348-92ED-D84A-BD61-A6E6BEDC36B7}" srcOrd="1" destOrd="0" parTransId="{9042A4A8-64CC-5545-AD62-499B2A87729D}" sibTransId="{55D25B2C-4DE4-0C4A-8434-BB0471286B31}"/>
    <dgm:cxn modelId="{FF3CC279-39A6-3D48-AFD7-DC7B0FBBB828}" type="presOf" srcId="{AB2106A5-A5F7-AC4A-AA1F-3EAA8912DFE1}" destId="{473DA392-E438-8542-A58D-1F149A005168}" srcOrd="0" destOrd="1" presId="urn:microsoft.com/office/officeart/2005/8/layout/hList1"/>
    <dgm:cxn modelId="{7C6C597A-BDED-1B4E-8C73-B6EB7F6FEC19}" srcId="{262EFF58-1CB6-8944-B79C-C59B7E8DE895}" destId="{21B5BC44-63F6-B54D-AD7E-320819AF5EA1}" srcOrd="0" destOrd="0" parTransId="{F8DEAA28-D155-624F-B2E7-9AE26298EF5C}" sibTransId="{39C7E5AE-F999-B547-9158-7E1DF29A698B}"/>
    <dgm:cxn modelId="{17E1F184-290B-2B48-9B9A-DED1EDE53DD9}" type="presOf" srcId="{62F6C7AC-E1B3-FE48-85DC-D789B1598962}" destId="{28936A10-E7B5-5D40-BAC4-05B1243E5DE9}" srcOrd="0" destOrd="1" presId="urn:microsoft.com/office/officeart/2005/8/layout/hList1"/>
    <dgm:cxn modelId="{3D4E8CAC-C3F4-F54D-99EB-7B7DCD6BCF9A}" srcId="{D09F9EDD-C636-EC43-88FF-49096AE9C210}" destId="{B9843259-4796-304D-9D38-46673985C06B}" srcOrd="1" destOrd="0" parTransId="{1A3F40A8-B7D5-1F4C-81A7-9BAC1F817DED}" sibTransId="{332DD5F6-9466-534E-A885-546CD8536C5D}"/>
    <dgm:cxn modelId="{0BE957BA-D116-6846-86E8-A923F06D28CF}" type="presOf" srcId="{FEE9A27B-A102-2042-98F7-337B70E2CA25}" destId="{28936A10-E7B5-5D40-BAC4-05B1243E5DE9}" srcOrd="0" destOrd="2" presId="urn:microsoft.com/office/officeart/2005/8/layout/hList1"/>
    <dgm:cxn modelId="{38A7F2E7-EE22-814F-8C8B-A2ECE82AB67A}" srcId="{C9CEE239-4265-0741-B96E-0CA6EC746F4D}" destId="{FEE9A27B-A102-2042-98F7-337B70E2CA25}" srcOrd="2" destOrd="0" parTransId="{9B768E76-AC34-4D47-8843-91B4E87DDBFB}" sibTransId="{C4849DD7-20CE-5F4D-8E34-4448873F4441}"/>
    <dgm:cxn modelId="{3BC0D7E8-DE0A-BF4A-8263-1448277213FE}" type="presOf" srcId="{35DFA55F-043C-844D-9922-D076EE2B354C}" destId="{28936A10-E7B5-5D40-BAC4-05B1243E5DE9}" srcOrd="0" destOrd="0" presId="urn:microsoft.com/office/officeart/2005/8/layout/hList1"/>
    <dgm:cxn modelId="{6721AFF5-606F-5549-B49F-7224DAAD2C31}" type="presOf" srcId="{C9CEE239-4265-0741-B96E-0CA6EC746F4D}" destId="{E011CE80-3664-214A-90DC-63929AA54979}" srcOrd="0" destOrd="0" presId="urn:microsoft.com/office/officeart/2005/8/layout/hList1"/>
    <dgm:cxn modelId="{0695DDF6-7F4C-674B-83A5-93108856FFF3}" srcId="{D09F9EDD-C636-EC43-88FF-49096AE9C210}" destId="{C9CEE239-4265-0741-B96E-0CA6EC746F4D}" srcOrd="2" destOrd="0" parTransId="{3E2FF679-896A-7C4E-8A02-32D97FD80767}" sibTransId="{41935AD4-542A-3344-974E-53B2FAC35B1E}"/>
    <dgm:cxn modelId="{220790F7-A178-6E49-8DF4-EF0A0FF277BA}" srcId="{B9843259-4796-304D-9D38-46673985C06B}" destId="{AB2106A5-A5F7-AC4A-AA1F-3EAA8912DFE1}" srcOrd="1" destOrd="0" parTransId="{0054C8F3-ED19-574D-979C-515FAA56C2F6}" sibTransId="{CECDEF2F-566D-4C48-94EF-2098A089D8CC}"/>
    <dgm:cxn modelId="{D106C6F8-DC69-AA4B-BFFF-B4AD800AA6B8}" type="presOf" srcId="{D09F9EDD-C636-EC43-88FF-49096AE9C210}" destId="{C7851805-C01A-0049-8816-3F911A8CF544}" srcOrd="0" destOrd="0" presId="urn:microsoft.com/office/officeart/2005/8/layout/hList1"/>
    <dgm:cxn modelId="{4A7C27DA-38B2-BD48-8387-E8579685CCAF}" type="presParOf" srcId="{C7851805-C01A-0049-8816-3F911A8CF544}" destId="{DD8E76DD-9A3E-8F4D-BDF8-46D587571A51}" srcOrd="0" destOrd="0" presId="urn:microsoft.com/office/officeart/2005/8/layout/hList1"/>
    <dgm:cxn modelId="{2D1F9500-E4E4-0D45-B05D-9615D64BD04C}" type="presParOf" srcId="{DD8E76DD-9A3E-8F4D-BDF8-46D587571A51}" destId="{020AB742-9DE8-0A4D-ABB2-E72809626DD1}" srcOrd="0" destOrd="0" presId="urn:microsoft.com/office/officeart/2005/8/layout/hList1"/>
    <dgm:cxn modelId="{1605B5F9-773E-434F-8B51-0ACBA435C655}" type="presParOf" srcId="{DD8E76DD-9A3E-8F4D-BDF8-46D587571A51}" destId="{42229F31-39CB-EF43-8CE7-7CE58142B754}" srcOrd="1" destOrd="0" presId="urn:microsoft.com/office/officeart/2005/8/layout/hList1"/>
    <dgm:cxn modelId="{35B6EFBD-58EF-F949-8ACF-B4B6ECB37222}" type="presParOf" srcId="{C7851805-C01A-0049-8816-3F911A8CF544}" destId="{215169AF-D50A-FB43-A447-CF51AD170984}" srcOrd="1" destOrd="0" presId="urn:microsoft.com/office/officeart/2005/8/layout/hList1"/>
    <dgm:cxn modelId="{003E7787-1867-1C44-822E-5B9E07878E7C}" type="presParOf" srcId="{C7851805-C01A-0049-8816-3F911A8CF544}" destId="{98867157-044A-0046-956F-DB585268B32D}" srcOrd="2" destOrd="0" presId="urn:microsoft.com/office/officeart/2005/8/layout/hList1"/>
    <dgm:cxn modelId="{02F06AC5-9592-E542-8755-245B7CEBAC1C}" type="presParOf" srcId="{98867157-044A-0046-956F-DB585268B32D}" destId="{AF4E56B2-E421-5A4A-8CC2-EEF684763770}" srcOrd="0" destOrd="0" presId="urn:microsoft.com/office/officeart/2005/8/layout/hList1"/>
    <dgm:cxn modelId="{5264B52C-4459-1E4C-B45E-6CA9A9C9E448}" type="presParOf" srcId="{98867157-044A-0046-956F-DB585268B32D}" destId="{473DA392-E438-8542-A58D-1F149A005168}" srcOrd="1" destOrd="0" presId="urn:microsoft.com/office/officeart/2005/8/layout/hList1"/>
    <dgm:cxn modelId="{8FF5C308-1FAB-494B-BC91-6A8CF8087905}" type="presParOf" srcId="{C7851805-C01A-0049-8816-3F911A8CF544}" destId="{9F752573-E045-5941-AA8D-C8F4F47C2356}" srcOrd="3" destOrd="0" presId="urn:microsoft.com/office/officeart/2005/8/layout/hList1"/>
    <dgm:cxn modelId="{0647A3F7-617E-2541-9694-27092092881D}" type="presParOf" srcId="{C7851805-C01A-0049-8816-3F911A8CF544}" destId="{8DACCB91-CCD1-154F-9DFC-0BB1CCA8876E}" srcOrd="4" destOrd="0" presId="urn:microsoft.com/office/officeart/2005/8/layout/hList1"/>
    <dgm:cxn modelId="{688281F0-74F5-F949-BFC6-51242AFD70FD}" type="presParOf" srcId="{8DACCB91-CCD1-154F-9DFC-0BB1CCA8876E}" destId="{E011CE80-3664-214A-90DC-63929AA54979}" srcOrd="0" destOrd="0" presId="urn:microsoft.com/office/officeart/2005/8/layout/hList1"/>
    <dgm:cxn modelId="{3FCBE8D7-3CE2-8F41-B575-7BC715992D3F}" type="presParOf" srcId="{8DACCB91-CCD1-154F-9DFC-0BB1CCA8876E}" destId="{28936A10-E7B5-5D40-BAC4-05B1243E5DE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8739ED-8039-4694-8079-7831DC896F34}" type="doc">
      <dgm:prSet loTypeId="urn:microsoft.com/office/officeart/2018/2/layout/IconVerticalSolidList" loCatId="icon" qsTypeId="urn:microsoft.com/office/officeart/2005/8/quickstyle/simple1#177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507C038-E250-4907-A690-FF460810F2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Class similarity</a:t>
          </a:r>
          <a:r>
            <a:rPr lang="en-US" dirty="0"/>
            <a:t>: Healthy and disease are  not distinguishable</a:t>
          </a:r>
        </a:p>
      </dgm:t>
    </dgm:pt>
    <dgm:pt modelId="{08DB6139-F593-4D69-A01C-BB6F176106E6}" type="parTrans" cxnId="{FD288582-64E4-443B-B2F1-5EA863246D2B}">
      <dgm:prSet/>
      <dgm:spPr/>
      <dgm:t>
        <a:bodyPr/>
        <a:lstStyle/>
        <a:p>
          <a:endParaRPr lang="en-US"/>
        </a:p>
      </dgm:t>
    </dgm:pt>
    <dgm:pt modelId="{3C2CD3EE-147D-4B4B-8AD7-BF0C2C4DE807}" type="sibTrans" cxnId="{FD288582-64E4-443B-B2F1-5EA863246D2B}">
      <dgm:prSet/>
      <dgm:spPr/>
      <dgm:t>
        <a:bodyPr/>
        <a:lstStyle/>
        <a:p>
          <a:endParaRPr lang="en-US"/>
        </a:p>
      </dgm:t>
    </dgm:pt>
    <dgm:pt modelId="{EFEF411F-8250-4C8C-892D-970CB5F33B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Computing</a:t>
          </a:r>
          <a:r>
            <a:rPr lang="en-US" dirty="0"/>
            <a:t>: Currently only running on MacBook</a:t>
          </a:r>
        </a:p>
      </dgm:t>
    </dgm:pt>
    <dgm:pt modelId="{13E40F5E-4774-48A9-8031-C1E82A69E4C3}" type="parTrans" cxnId="{598F14C3-782E-492B-A20B-6416A4644533}">
      <dgm:prSet/>
      <dgm:spPr/>
      <dgm:t>
        <a:bodyPr/>
        <a:lstStyle/>
        <a:p>
          <a:endParaRPr lang="en-US"/>
        </a:p>
      </dgm:t>
    </dgm:pt>
    <dgm:pt modelId="{3EA0C4C0-19C9-4FFA-8574-5A0A32AFBB5B}" type="sibTrans" cxnId="{598F14C3-782E-492B-A20B-6416A4644533}">
      <dgm:prSet/>
      <dgm:spPr/>
      <dgm:t>
        <a:bodyPr/>
        <a:lstStyle/>
        <a:p>
          <a:endParaRPr lang="en-US"/>
        </a:p>
      </dgm:t>
    </dgm:pt>
    <dgm:pt modelId="{283AF11F-CDE0-49C8-BE20-5CCA0B251F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Time to try more …</a:t>
          </a:r>
        </a:p>
      </dgm:t>
    </dgm:pt>
    <dgm:pt modelId="{6844BBD9-7B6E-43A5-AA94-AA2B52DE03AF}" type="parTrans" cxnId="{08649333-B8A2-46E6-8EF1-CD82D73E0932}">
      <dgm:prSet/>
      <dgm:spPr/>
      <dgm:t>
        <a:bodyPr/>
        <a:lstStyle/>
        <a:p>
          <a:endParaRPr lang="en-US"/>
        </a:p>
      </dgm:t>
    </dgm:pt>
    <dgm:pt modelId="{6E7AAD8B-522B-42D5-80BB-E4E913CAB74D}" type="sibTrans" cxnId="{08649333-B8A2-46E6-8EF1-CD82D73E0932}">
      <dgm:prSet/>
      <dgm:spPr/>
      <dgm:t>
        <a:bodyPr/>
        <a:lstStyle/>
        <a:p>
          <a:endParaRPr lang="en-US"/>
        </a:p>
      </dgm:t>
    </dgm:pt>
    <dgm:pt modelId="{25546EE6-F8C8-4A2E-B103-098D7BCEBE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Poor</a:t>
          </a:r>
          <a:r>
            <a:rPr lang="en-US" dirty="0"/>
            <a:t> </a:t>
          </a:r>
          <a:r>
            <a:rPr lang="en-US" b="1" dirty="0"/>
            <a:t>generalization and robustness</a:t>
          </a:r>
          <a:r>
            <a:rPr lang="en-US" dirty="0"/>
            <a:t>:</a:t>
          </a:r>
        </a:p>
      </dgm:t>
    </dgm:pt>
    <dgm:pt modelId="{E36F71A3-3D8A-4CAA-98BE-DEFDF315815F}" type="parTrans" cxnId="{D67CDD9E-B839-4A3B-8C8C-BE75C5DBDD84}">
      <dgm:prSet/>
      <dgm:spPr/>
      <dgm:t>
        <a:bodyPr/>
        <a:lstStyle/>
        <a:p>
          <a:endParaRPr lang="en-US"/>
        </a:p>
      </dgm:t>
    </dgm:pt>
    <dgm:pt modelId="{419D916C-58FB-4028-A59E-CB989E3AC02B}" type="sibTrans" cxnId="{D67CDD9E-B839-4A3B-8C8C-BE75C5DBDD84}">
      <dgm:prSet/>
      <dgm:spPr/>
      <dgm:t>
        <a:bodyPr/>
        <a:lstStyle/>
        <a:p>
          <a:endParaRPr lang="en-US"/>
        </a:p>
      </dgm:t>
    </dgm:pt>
    <dgm:pt modelId="{1A82090C-2B70-4CC6-8FCC-DB371BEC62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Single patient → </a:t>
          </a:r>
          <a:r>
            <a:rPr lang="en-US" dirty="0"/>
            <a:t>Data should be collected from multiple patients</a:t>
          </a:r>
        </a:p>
      </dgm:t>
    </dgm:pt>
    <dgm:pt modelId="{AF5D36AE-FA20-40B2-B15E-02291BD6E007}" type="parTrans" cxnId="{250BC11C-C251-4CF4-8417-3250FE9DA4D5}">
      <dgm:prSet/>
      <dgm:spPr/>
      <dgm:t>
        <a:bodyPr/>
        <a:lstStyle/>
        <a:p>
          <a:endParaRPr lang="en-US"/>
        </a:p>
      </dgm:t>
    </dgm:pt>
    <dgm:pt modelId="{7F7E9492-8C26-439D-B2FA-182065597280}" type="sibTrans" cxnId="{250BC11C-C251-4CF4-8417-3250FE9DA4D5}">
      <dgm:prSet/>
      <dgm:spPr/>
      <dgm:t>
        <a:bodyPr/>
        <a:lstStyle/>
        <a:p>
          <a:endParaRPr lang="en-US"/>
        </a:p>
      </dgm:t>
    </dgm:pt>
    <dgm:pt modelId="{F6D1A332-7F79-489C-A009-D88AF28945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Single center → </a:t>
          </a:r>
          <a:r>
            <a:rPr lang="en-US" dirty="0"/>
            <a:t>Not generalizable for different machines or possible noise</a:t>
          </a:r>
        </a:p>
      </dgm:t>
    </dgm:pt>
    <dgm:pt modelId="{186AC2CE-8D46-4918-A701-2D0F1FA5149B}" type="parTrans" cxnId="{62B89B1B-C86E-4D06-ADED-317BEA46AE73}">
      <dgm:prSet/>
      <dgm:spPr/>
      <dgm:t>
        <a:bodyPr/>
        <a:lstStyle/>
        <a:p>
          <a:endParaRPr lang="en-US"/>
        </a:p>
      </dgm:t>
    </dgm:pt>
    <dgm:pt modelId="{4AC69C84-4E37-4AAF-9CC7-F8F8060F8366}" type="sibTrans" cxnId="{62B89B1B-C86E-4D06-ADED-317BEA46AE73}">
      <dgm:prSet/>
      <dgm:spPr/>
      <dgm:t>
        <a:bodyPr/>
        <a:lstStyle/>
        <a:p>
          <a:endParaRPr lang="en-US"/>
        </a:p>
      </dgm:t>
    </dgm:pt>
    <dgm:pt modelId="{F9798DF9-7864-4B71-AE2E-B18546A2CC7C}" type="pres">
      <dgm:prSet presAssocID="{AA8739ED-8039-4694-8079-7831DC896F34}" presName="root" presStyleCnt="0">
        <dgm:presLayoutVars>
          <dgm:dir/>
          <dgm:resizeHandles val="exact"/>
        </dgm:presLayoutVars>
      </dgm:prSet>
      <dgm:spPr/>
    </dgm:pt>
    <dgm:pt modelId="{FF0E442B-DF83-4C9B-85FF-256D69742EED}" type="pres">
      <dgm:prSet presAssocID="{E507C038-E250-4907-A690-FF460810F2FC}" presName="compNode" presStyleCnt="0"/>
      <dgm:spPr/>
    </dgm:pt>
    <dgm:pt modelId="{6A6B0DB5-93A1-4037-997E-5D334B1A72AB}" type="pres">
      <dgm:prSet presAssocID="{E507C038-E250-4907-A690-FF460810F2FC}" presName="bgRect" presStyleLbl="bgShp" presStyleIdx="0" presStyleCnt="4"/>
      <dgm:spPr/>
    </dgm:pt>
    <dgm:pt modelId="{2E526195-24A4-4920-BDEE-78AC85140176}" type="pres">
      <dgm:prSet presAssocID="{E507C038-E250-4907-A690-FF460810F2F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3BE7ADF-EEDE-4E8A-A3E7-69DEC3D627C8}" type="pres">
      <dgm:prSet presAssocID="{E507C038-E250-4907-A690-FF460810F2FC}" presName="spaceRect" presStyleCnt="0"/>
      <dgm:spPr/>
    </dgm:pt>
    <dgm:pt modelId="{16F949F1-A86C-47E7-9A99-B08C09829CCF}" type="pres">
      <dgm:prSet presAssocID="{E507C038-E250-4907-A690-FF460810F2FC}" presName="parTx" presStyleLbl="revTx" presStyleIdx="0" presStyleCnt="5">
        <dgm:presLayoutVars>
          <dgm:chMax val="0"/>
          <dgm:chPref val="0"/>
        </dgm:presLayoutVars>
      </dgm:prSet>
      <dgm:spPr/>
    </dgm:pt>
    <dgm:pt modelId="{818A8DDD-C709-4961-9AB7-34E6E9041D57}" type="pres">
      <dgm:prSet presAssocID="{3C2CD3EE-147D-4B4B-8AD7-BF0C2C4DE807}" presName="sibTrans" presStyleCnt="0"/>
      <dgm:spPr/>
    </dgm:pt>
    <dgm:pt modelId="{A5F4125A-7C33-4569-9059-D3EDA369EF00}" type="pres">
      <dgm:prSet presAssocID="{EFEF411F-8250-4C8C-892D-970CB5F33B0B}" presName="compNode" presStyleCnt="0"/>
      <dgm:spPr/>
    </dgm:pt>
    <dgm:pt modelId="{9B0996F0-1D76-4B2E-AD3F-B0EE048D47A0}" type="pres">
      <dgm:prSet presAssocID="{EFEF411F-8250-4C8C-892D-970CB5F33B0B}" presName="bgRect" presStyleLbl="bgShp" presStyleIdx="1" presStyleCnt="4"/>
      <dgm:spPr/>
    </dgm:pt>
    <dgm:pt modelId="{FF2AAFAF-B23E-4EFB-BEFE-734DBBE75B43}" type="pres">
      <dgm:prSet presAssocID="{EFEF411F-8250-4C8C-892D-970CB5F33B0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CA91017F-91CD-42D8-9B63-BAB8BDF7D612}" type="pres">
      <dgm:prSet presAssocID="{EFEF411F-8250-4C8C-892D-970CB5F33B0B}" presName="spaceRect" presStyleCnt="0"/>
      <dgm:spPr/>
    </dgm:pt>
    <dgm:pt modelId="{9CBAF274-1976-4978-A608-A67A6C579EB0}" type="pres">
      <dgm:prSet presAssocID="{EFEF411F-8250-4C8C-892D-970CB5F33B0B}" presName="parTx" presStyleLbl="revTx" presStyleIdx="1" presStyleCnt="5">
        <dgm:presLayoutVars>
          <dgm:chMax val="0"/>
          <dgm:chPref val="0"/>
        </dgm:presLayoutVars>
      </dgm:prSet>
      <dgm:spPr/>
    </dgm:pt>
    <dgm:pt modelId="{3DBAAAD1-DEB3-49C6-9227-31518B578D2E}" type="pres">
      <dgm:prSet presAssocID="{3EA0C4C0-19C9-4FFA-8574-5A0A32AFBB5B}" presName="sibTrans" presStyleCnt="0"/>
      <dgm:spPr/>
    </dgm:pt>
    <dgm:pt modelId="{250B756F-C78E-4119-AE68-162B03F88958}" type="pres">
      <dgm:prSet presAssocID="{25546EE6-F8C8-4A2E-B103-098D7BCEBEEC}" presName="compNode" presStyleCnt="0"/>
      <dgm:spPr/>
    </dgm:pt>
    <dgm:pt modelId="{1DD6446A-9A5D-4459-A6BE-B818F421AEC6}" type="pres">
      <dgm:prSet presAssocID="{25546EE6-F8C8-4A2E-B103-098D7BCEBEEC}" presName="bgRect" presStyleLbl="bgShp" presStyleIdx="2" presStyleCnt="4"/>
      <dgm:spPr/>
    </dgm:pt>
    <dgm:pt modelId="{7C447AA3-B986-4CCE-8D36-03E8C73F32BC}" type="pres">
      <dgm:prSet presAssocID="{25546EE6-F8C8-4A2E-B103-098D7BCEBEE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FD67755A-DEDA-4626-8D0F-1196B971A8C5}" type="pres">
      <dgm:prSet presAssocID="{25546EE6-F8C8-4A2E-B103-098D7BCEBEEC}" presName="spaceRect" presStyleCnt="0"/>
      <dgm:spPr/>
    </dgm:pt>
    <dgm:pt modelId="{87BB1504-4D79-442E-8FA4-BDCBFE009C08}" type="pres">
      <dgm:prSet presAssocID="{25546EE6-F8C8-4A2E-B103-098D7BCEBEEC}" presName="parTx" presStyleLbl="revTx" presStyleIdx="2" presStyleCnt="5">
        <dgm:presLayoutVars>
          <dgm:chMax val="0"/>
          <dgm:chPref val="0"/>
        </dgm:presLayoutVars>
      </dgm:prSet>
      <dgm:spPr/>
    </dgm:pt>
    <dgm:pt modelId="{7C402080-0180-4A26-A764-8E0001D586BA}" type="pres">
      <dgm:prSet presAssocID="{25546EE6-F8C8-4A2E-B103-098D7BCEBEEC}" presName="desTx" presStyleLbl="revTx" presStyleIdx="3" presStyleCnt="5">
        <dgm:presLayoutVars/>
      </dgm:prSet>
      <dgm:spPr/>
    </dgm:pt>
    <dgm:pt modelId="{B796C2FD-E5E8-AF4C-8178-FB45EDCB6700}" type="pres">
      <dgm:prSet presAssocID="{419D916C-58FB-4028-A59E-CB989E3AC02B}" presName="sibTrans" presStyleCnt="0"/>
      <dgm:spPr/>
    </dgm:pt>
    <dgm:pt modelId="{3D232A18-6681-474F-B8FA-36301F28C310}" type="pres">
      <dgm:prSet presAssocID="{283AF11F-CDE0-49C8-BE20-5CCA0B251F70}" presName="compNode" presStyleCnt="0"/>
      <dgm:spPr/>
    </dgm:pt>
    <dgm:pt modelId="{0A67FC5E-775B-4231-B2C4-DF84F165E1F7}" type="pres">
      <dgm:prSet presAssocID="{283AF11F-CDE0-49C8-BE20-5CCA0B251F70}" presName="bgRect" presStyleLbl="bgShp" presStyleIdx="3" presStyleCnt="4"/>
      <dgm:spPr/>
    </dgm:pt>
    <dgm:pt modelId="{06E8DB40-EE74-43E1-82E6-541064C41AEC}" type="pres">
      <dgm:prSet presAssocID="{283AF11F-CDE0-49C8-BE20-5CCA0B251F7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4675E4C3-A2BC-46C4-9A26-495F0CBED25C}" type="pres">
      <dgm:prSet presAssocID="{283AF11F-CDE0-49C8-BE20-5CCA0B251F70}" presName="spaceRect" presStyleCnt="0"/>
      <dgm:spPr/>
    </dgm:pt>
    <dgm:pt modelId="{B004535C-365B-48D6-ADFE-DBFBAC7AFBBB}" type="pres">
      <dgm:prSet presAssocID="{283AF11F-CDE0-49C8-BE20-5CCA0B251F7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2B89B1B-C86E-4D06-ADED-317BEA46AE73}" srcId="{25546EE6-F8C8-4A2E-B103-098D7BCEBEEC}" destId="{F6D1A332-7F79-489C-A009-D88AF2894583}" srcOrd="1" destOrd="0" parTransId="{186AC2CE-8D46-4918-A701-2D0F1FA5149B}" sibTransId="{4AC69C84-4E37-4AAF-9CC7-F8F8060F8366}"/>
    <dgm:cxn modelId="{250BC11C-C251-4CF4-8417-3250FE9DA4D5}" srcId="{25546EE6-F8C8-4A2E-B103-098D7BCEBEEC}" destId="{1A82090C-2B70-4CC6-8FCC-DB371BEC62A8}" srcOrd="0" destOrd="0" parTransId="{AF5D36AE-FA20-40B2-B15E-02291BD6E007}" sibTransId="{7F7E9492-8C26-439D-B2FA-182065597280}"/>
    <dgm:cxn modelId="{08649333-B8A2-46E6-8EF1-CD82D73E0932}" srcId="{AA8739ED-8039-4694-8079-7831DC896F34}" destId="{283AF11F-CDE0-49C8-BE20-5CCA0B251F70}" srcOrd="3" destOrd="0" parTransId="{6844BBD9-7B6E-43A5-AA94-AA2B52DE03AF}" sibTransId="{6E7AAD8B-522B-42D5-80BB-E4E913CAB74D}"/>
    <dgm:cxn modelId="{61CA9F45-1687-094F-943D-164B1FE67155}" type="presOf" srcId="{1A82090C-2B70-4CC6-8FCC-DB371BEC62A8}" destId="{7C402080-0180-4A26-A764-8E0001D586BA}" srcOrd="0" destOrd="0" presId="urn:microsoft.com/office/officeart/2018/2/layout/IconVerticalSolidList"/>
    <dgm:cxn modelId="{43356172-EBF3-4E78-AE68-67548B6337D2}" type="presOf" srcId="{AA8739ED-8039-4694-8079-7831DC896F34}" destId="{F9798DF9-7864-4B71-AE2E-B18546A2CC7C}" srcOrd="0" destOrd="0" presId="urn:microsoft.com/office/officeart/2018/2/layout/IconVerticalSolidList"/>
    <dgm:cxn modelId="{F7561975-273F-1F4E-9001-96F1559B933C}" type="presOf" srcId="{25546EE6-F8C8-4A2E-B103-098D7BCEBEEC}" destId="{87BB1504-4D79-442E-8FA4-BDCBFE009C08}" srcOrd="0" destOrd="0" presId="urn:microsoft.com/office/officeart/2018/2/layout/IconVerticalSolidList"/>
    <dgm:cxn modelId="{4B113C7D-71FF-534A-B97F-98301903AAC0}" type="presOf" srcId="{EFEF411F-8250-4C8C-892D-970CB5F33B0B}" destId="{9CBAF274-1976-4978-A608-A67A6C579EB0}" srcOrd="0" destOrd="0" presId="urn:microsoft.com/office/officeart/2018/2/layout/IconVerticalSolidList"/>
    <dgm:cxn modelId="{FD288582-64E4-443B-B2F1-5EA863246D2B}" srcId="{AA8739ED-8039-4694-8079-7831DC896F34}" destId="{E507C038-E250-4907-A690-FF460810F2FC}" srcOrd="0" destOrd="0" parTransId="{08DB6139-F593-4D69-A01C-BB6F176106E6}" sibTransId="{3C2CD3EE-147D-4B4B-8AD7-BF0C2C4DE807}"/>
    <dgm:cxn modelId="{D67CDD9E-B839-4A3B-8C8C-BE75C5DBDD84}" srcId="{AA8739ED-8039-4694-8079-7831DC896F34}" destId="{25546EE6-F8C8-4A2E-B103-098D7BCEBEEC}" srcOrd="2" destOrd="0" parTransId="{E36F71A3-3D8A-4CAA-98BE-DEFDF315815F}" sibTransId="{419D916C-58FB-4028-A59E-CB989E3AC02B}"/>
    <dgm:cxn modelId="{21C09AA7-CA8E-BA43-8F1E-E675EE7C2107}" type="presOf" srcId="{283AF11F-CDE0-49C8-BE20-5CCA0B251F70}" destId="{B004535C-365B-48D6-ADFE-DBFBAC7AFBBB}" srcOrd="0" destOrd="0" presId="urn:microsoft.com/office/officeart/2018/2/layout/IconVerticalSolidList"/>
    <dgm:cxn modelId="{598F14C3-782E-492B-A20B-6416A4644533}" srcId="{AA8739ED-8039-4694-8079-7831DC896F34}" destId="{EFEF411F-8250-4C8C-892D-970CB5F33B0B}" srcOrd="1" destOrd="0" parTransId="{13E40F5E-4774-48A9-8031-C1E82A69E4C3}" sibTransId="{3EA0C4C0-19C9-4FFA-8574-5A0A32AFBB5B}"/>
    <dgm:cxn modelId="{D44D26E9-1A83-6E42-A25E-B66B3C9241DD}" type="presOf" srcId="{F6D1A332-7F79-489C-A009-D88AF2894583}" destId="{7C402080-0180-4A26-A764-8E0001D586BA}" srcOrd="0" destOrd="1" presId="urn:microsoft.com/office/officeart/2018/2/layout/IconVerticalSolidList"/>
    <dgm:cxn modelId="{6F11F8FB-C0CD-1C4D-96D7-088E3E74E504}" type="presOf" srcId="{E507C038-E250-4907-A690-FF460810F2FC}" destId="{16F949F1-A86C-47E7-9A99-B08C09829CCF}" srcOrd="0" destOrd="0" presId="urn:microsoft.com/office/officeart/2018/2/layout/IconVerticalSolidList"/>
    <dgm:cxn modelId="{25F11645-43C4-A749-A629-BC0B451A57B5}" type="presParOf" srcId="{F9798DF9-7864-4B71-AE2E-B18546A2CC7C}" destId="{FF0E442B-DF83-4C9B-85FF-256D69742EED}" srcOrd="0" destOrd="0" presId="urn:microsoft.com/office/officeart/2018/2/layout/IconVerticalSolidList"/>
    <dgm:cxn modelId="{8E1E1118-64E1-7F4F-8A86-CDD67DC2278C}" type="presParOf" srcId="{FF0E442B-DF83-4C9B-85FF-256D69742EED}" destId="{6A6B0DB5-93A1-4037-997E-5D334B1A72AB}" srcOrd="0" destOrd="0" presId="urn:microsoft.com/office/officeart/2018/2/layout/IconVerticalSolidList"/>
    <dgm:cxn modelId="{0E61296B-6F25-144E-B56E-C1D8471BD7F1}" type="presParOf" srcId="{FF0E442B-DF83-4C9B-85FF-256D69742EED}" destId="{2E526195-24A4-4920-BDEE-78AC85140176}" srcOrd="1" destOrd="0" presId="urn:microsoft.com/office/officeart/2018/2/layout/IconVerticalSolidList"/>
    <dgm:cxn modelId="{F5F5CE32-29C8-9741-B2F1-C1D4710EB821}" type="presParOf" srcId="{FF0E442B-DF83-4C9B-85FF-256D69742EED}" destId="{23BE7ADF-EEDE-4E8A-A3E7-69DEC3D627C8}" srcOrd="2" destOrd="0" presId="urn:microsoft.com/office/officeart/2018/2/layout/IconVerticalSolidList"/>
    <dgm:cxn modelId="{2471F3EF-B21D-F64A-81F8-EFC044755297}" type="presParOf" srcId="{FF0E442B-DF83-4C9B-85FF-256D69742EED}" destId="{16F949F1-A86C-47E7-9A99-B08C09829CCF}" srcOrd="3" destOrd="0" presId="urn:microsoft.com/office/officeart/2018/2/layout/IconVerticalSolidList"/>
    <dgm:cxn modelId="{2DBEDB82-607C-3C42-9CFF-CA3F42624408}" type="presParOf" srcId="{F9798DF9-7864-4B71-AE2E-B18546A2CC7C}" destId="{818A8DDD-C709-4961-9AB7-34E6E9041D57}" srcOrd="1" destOrd="0" presId="urn:microsoft.com/office/officeart/2018/2/layout/IconVerticalSolidList"/>
    <dgm:cxn modelId="{C425F93F-B7E2-6D42-963E-0ECCB7A341AF}" type="presParOf" srcId="{F9798DF9-7864-4B71-AE2E-B18546A2CC7C}" destId="{A5F4125A-7C33-4569-9059-D3EDA369EF00}" srcOrd="2" destOrd="0" presId="urn:microsoft.com/office/officeart/2018/2/layout/IconVerticalSolidList"/>
    <dgm:cxn modelId="{90007065-778D-9245-A09E-F35F905F41AF}" type="presParOf" srcId="{A5F4125A-7C33-4569-9059-D3EDA369EF00}" destId="{9B0996F0-1D76-4B2E-AD3F-B0EE048D47A0}" srcOrd="0" destOrd="0" presId="urn:microsoft.com/office/officeart/2018/2/layout/IconVerticalSolidList"/>
    <dgm:cxn modelId="{C5BBC8E4-613B-894A-AAEE-86CC76410B3B}" type="presParOf" srcId="{A5F4125A-7C33-4569-9059-D3EDA369EF00}" destId="{FF2AAFAF-B23E-4EFB-BEFE-734DBBE75B43}" srcOrd="1" destOrd="0" presId="urn:microsoft.com/office/officeart/2018/2/layout/IconVerticalSolidList"/>
    <dgm:cxn modelId="{BF4E9917-F67E-CB4B-BE7D-DAEA20312416}" type="presParOf" srcId="{A5F4125A-7C33-4569-9059-D3EDA369EF00}" destId="{CA91017F-91CD-42D8-9B63-BAB8BDF7D612}" srcOrd="2" destOrd="0" presId="urn:microsoft.com/office/officeart/2018/2/layout/IconVerticalSolidList"/>
    <dgm:cxn modelId="{EB704FF1-095F-1446-ADC7-4DBD8627A2F8}" type="presParOf" srcId="{A5F4125A-7C33-4569-9059-D3EDA369EF00}" destId="{9CBAF274-1976-4978-A608-A67A6C579EB0}" srcOrd="3" destOrd="0" presId="urn:microsoft.com/office/officeart/2018/2/layout/IconVerticalSolidList"/>
    <dgm:cxn modelId="{DD29F8F1-D47D-9D45-87A4-09C70314CD57}" type="presParOf" srcId="{F9798DF9-7864-4B71-AE2E-B18546A2CC7C}" destId="{3DBAAAD1-DEB3-49C6-9227-31518B578D2E}" srcOrd="3" destOrd="0" presId="urn:microsoft.com/office/officeart/2018/2/layout/IconVerticalSolidList"/>
    <dgm:cxn modelId="{7931F47B-B0BD-E34F-9567-BB2D1886D2BA}" type="presParOf" srcId="{F9798DF9-7864-4B71-AE2E-B18546A2CC7C}" destId="{250B756F-C78E-4119-AE68-162B03F88958}" srcOrd="4" destOrd="0" presId="urn:microsoft.com/office/officeart/2018/2/layout/IconVerticalSolidList"/>
    <dgm:cxn modelId="{3C6F5963-6163-D34F-8956-9D8D32281A31}" type="presParOf" srcId="{250B756F-C78E-4119-AE68-162B03F88958}" destId="{1DD6446A-9A5D-4459-A6BE-B818F421AEC6}" srcOrd="0" destOrd="0" presId="urn:microsoft.com/office/officeart/2018/2/layout/IconVerticalSolidList"/>
    <dgm:cxn modelId="{6AC21527-1178-2144-8C40-4DE3256FAFCD}" type="presParOf" srcId="{250B756F-C78E-4119-AE68-162B03F88958}" destId="{7C447AA3-B986-4CCE-8D36-03E8C73F32BC}" srcOrd="1" destOrd="0" presId="urn:microsoft.com/office/officeart/2018/2/layout/IconVerticalSolidList"/>
    <dgm:cxn modelId="{9A4F083F-3882-D04B-A9B5-4A51535C1D86}" type="presParOf" srcId="{250B756F-C78E-4119-AE68-162B03F88958}" destId="{FD67755A-DEDA-4626-8D0F-1196B971A8C5}" srcOrd="2" destOrd="0" presId="urn:microsoft.com/office/officeart/2018/2/layout/IconVerticalSolidList"/>
    <dgm:cxn modelId="{6C3D8B0E-49F8-5B42-B97E-3B4EBA5E47D0}" type="presParOf" srcId="{250B756F-C78E-4119-AE68-162B03F88958}" destId="{87BB1504-4D79-442E-8FA4-BDCBFE009C08}" srcOrd="3" destOrd="0" presId="urn:microsoft.com/office/officeart/2018/2/layout/IconVerticalSolidList"/>
    <dgm:cxn modelId="{CCE1D6B9-DBEF-C146-AB9C-5D4A446F3BA9}" type="presParOf" srcId="{250B756F-C78E-4119-AE68-162B03F88958}" destId="{7C402080-0180-4A26-A764-8E0001D586BA}" srcOrd="4" destOrd="0" presId="urn:microsoft.com/office/officeart/2018/2/layout/IconVerticalSolidList"/>
    <dgm:cxn modelId="{A8224C03-C93B-B541-9FB2-2500C0F915F2}" type="presParOf" srcId="{F9798DF9-7864-4B71-AE2E-B18546A2CC7C}" destId="{B796C2FD-E5E8-AF4C-8178-FB45EDCB6700}" srcOrd="5" destOrd="0" presId="urn:microsoft.com/office/officeart/2018/2/layout/IconVerticalSolidList"/>
    <dgm:cxn modelId="{E65CBAB2-4C43-2149-A26D-779B772E6FEC}" type="presParOf" srcId="{F9798DF9-7864-4B71-AE2E-B18546A2CC7C}" destId="{3D232A18-6681-474F-B8FA-36301F28C310}" srcOrd="6" destOrd="0" presId="urn:microsoft.com/office/officeart/2018/2/layout/IconVerticalSolidList"/>
    <dgm:cxn modelId="{7DBA6EA0-C99C-BD4B-9C5E-7DBF986D50A2}" type="presParOf" srcId="{3D232A18-6681-474F-B8FA-36301F28C310}" destId="{0A67FC5E-775B-4231-B2C4-DF84F165E1F7}" srcOrd="0" destOrd="0" presId="urn:microsoft.com/office/officeart/2018/2/layout/IconVerticalSolidList"/>
    <dgm:cxn modelId="{EAB74D14-79A9-404D-960B-6B36EC518FEB}" type="presParOf" srcId="{3D232A18-6681-474F-B8FA-36301F28C310}" destId="{06E8DB40-EE74-43E1-82E6-541064C41AEC}" srcOrd="1" destOrd="0" presId="urn:microsoft.com/office/officeart/2018/2/layout/IconVerticalSolidList"/>
    <dgm:cxn modelId="{BE18D58E-8070-B04C-9573-181DD7C25B0A}" type="presParOf" srcId="{3D232A18-6681-474F-B8FA-36301F28C310}" destId="{4675E4C3-A2BC-46C4-9A26-495F0CBED25C}" srcOrd="2" destOrd="0" presId="urn:microsoft.com/office/officeart/2018/2/layout/IconVerticalSolidList"/>
    <dgm:cxn modelId="{6E9A4D91-3460-CB46-9161-293BC253E553}" type="presParOf" srcId="{3D232A18-6681-474F-B8FA-36301F28C310}" destId="{B004535C-365B-48D6-ADFE-DBFBAC7AFBB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B0FF5F-0DB9-AA4D-B74D-08E8A154D6CE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159612C-E3C6-6F4E-92AA-C2F8464AE740}">
      <dgm:prSet/>
      <dgm:spPr>
        <a:solidFill>
          <a:schemeClr val="bg2">
            <a:lumMod val="90000"/>
          </a:schemeClr>
        </a:solidFill>
        <a:ln>
          <a:noFill/>
        </a:ln>
      </dgm:spPr>
      <dgm:t>
        <a:bodyPr/>
        <a:lstStyle/>
        <a:p>
          <a:r>
            <a:rPr lang="en-US" dirty="0"/>
            <a:t>Multiclass Classification is not the best suited task for this data set </a:t>
          </a:r>
          <a:r>
            <a:rPr lang="en-US" b="1" cap="none" spc="0" dirty="0">
              <a:ln w="0"/>
              <a:solidFill>
                <a:schemeClr val="accent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→ Anomaly detection </a:t>
          </a:r>
          <a:endParaRPr lang="en-US" b="1" dirty="0">
            <a:solidFill>
              <a:schemeClr val="accent3"/>
            </a:solidFill>
          </a:endParaRPr>
        </a:p>
      </dgm:t>
    </dgm:pt>
    <dgm:pt modelId="{2BB50982-115B-F446-9231-A52A65DE02F0}" type="parTrans" cxnId="{19B0B31A-1D85-6346-9A20-A43269842DE2}">
      <dgm:prSet/>
      <dgm:spPr/>
      <dgm:t>
        <a:bodyPr/>
        <a:lstStyle/>
        <a:p>
          <a:endParaRPr lang="en-US"/>
        </a:p>
      </dgm:t>
    </dgm:pt>
    <dgm:pt modelId="{69A47304-42F0-0A48-96D4-AB1512C0A1AC}" type="sibTrans" cxnId="{19B0B31A-1D85-6346-9A20-A43269842DE2}">
      <dgm:prSet/>
      <dgm:spPr/>
      <dgm:t>
        <a:bodyPr/>
        <a:lstStyle/>
        <a:p>
          <a:endParaRPr lang="en-US"/>
        </a:p>
      </dgm:t>
    </dgm:pt>
    <dgm:pt modelId="{69E24E03-086A-574E-B78F-530ED2338457}">
      <dgm:prSet/>
      <dgm:spPr>
        <a:solidFill>
          <a:schemeClr val="bg2">
            <a:lumMod val="90000"/>
          </a:schemeClr>
        </a:solidFill>
        <a:ln>
          <a:noFill/>
        </a:ln>
      </dgm:spPr>
      <dgm:t>
        <a:bodyPr/>
        <a:lstStyle/>
        <a:p>
          <a:r>
            <a:rPr lang="en-US" dirty="0"/>
            <a:t>Higher </a:t>
          </a:r>
          <a:r>
            <a:rPr lang="en-US" b="1" dirty="0">
              <a:solidFill>
                <a:schemeClr val="tx2">
                  <a:lumMod val="75000"/>
                  <a:lumOff val="25000"/>
                </a:schemeClr>
              </a:solidFill>
            </a:rPr>
            <a:t>model complexity </a:t>
          </a:r>
          <a:r>
            <a:rPr lang="en-US" dirty="0"/>
            <a:t>doesn’t translate into </a:t>
          </a:r>
          <a:r>
            <a:rPr lang="en-US" b="1" dirty="0">
              <a:solidFill>
                <a:schemeClr val="tx2">
                  <a:lumMod val="75000"/>
                  <a:lumOff val="25000"/>
                </a:schemeClr>
              </a:solidFill>
            </a:rPr>
            <a:t>better performance</a:t>
          </a:r>
          <a:r>
            <a:rPr lang="en-US" dirty="0">
              <a:solidFill>
                <a:schemeClr val="tx2">
                  <a:lumMod val="75000"/>
                  <a:lumOff val="25000"/>
                </a:schemeClr>
              </a:solidFill>
            </a:rPr>
            <a:t>.</a:t>
          </a:r>
        </a:p>
      </dgm:t>
    </dgm:pt>
    <dgm:pt modelId="{21738E6E-185B-514A-99F5-1D74534C72EF}" type="parTrans" cxnId="{8F626FDB-340E-4D4F-BD35-C4F83F92558A}">
      <dgm:prSet/>
      <dgm:spPr/>
      <dgm:t>
        <a:bodyPr/>
        <a:lstStyle/>
        <a:p>
          <a:endParaRPr lang="en-US"/>
        </a:p>
      </dgm:t>
    </dgm:pt>
    <dgm:pt modelId="{76AD5AAA-080A-8B4F-A903-68F521E48FFE}" type="sibTrans" cxnId="{8F626FDB-340E-4D4F-BD35-C4F83F92558A}">
      <dgm:prSet/>
      <dgm:spPr/>
      <dgm:t>
        <a:bodyPr/>
        <a:lstStyle/>
        <a:p>
          <a:endParaRPr lang="en-US"/>
        </a:p>
      </dgm:t>
    </dgm:pt>
    <dgm:pt modelId="{780EBD0C-B05F-8F4C-A7E5-C87DAC98B864}">
      <dgm:prSet/>
      <dgm:spPr>
        <a:solidFill>
          <a:schemeClr val="bg2">
            <a:lumMod val="90000"/>
          </a:schemeClr>
        </a:solidFill>
        <a:ln>
          <a:noFill/>
        </a:ln>
      </dgm:spPr>
      <dgm:t>
        <a:bodyPr/>
        <a:lstStyle/>
        <a:p>
          <a:r>
            <a:rPr lang="en-US" b="1" dirty="0">
              <a:solidFill>
                <a:schemeClr val="tx2">
                  <a:lumMod val="75000"/>
                  <a:lumOff val="25000"/>
                </a:schemeClr>
              </a:solidFill>
            </a:rPr>
            <a:t>Hyperparameter tunning</a:t>
          </a:r>
          <a:r>
            <a:rPr lang="en-US" dirty="0">
              <a:solidFill>
                <a:schemeClr val="tx2">
                  <a:lumMod val="75000"/>
                  <a:lumOff val="25000"/>
                </a:schemeClr>
              </a:solidFill>
            </a:rPr>
            <a:t>: </a:t>
          </a:r>
          <a:r>
            <a:rPr lang="en-US" dirty="0"/>
            <a:t>Better fitted from more complex tasks</a:t>
          </a:r>
        </a:p>
      </dgm:t>
    </dgm:pt>
    <dgm:pt modelId="{E4FF93A7-BCE2-1146-87A5-76D608855813}" type="parTrans" cxnId="{6A4FC6C7-58A9-6B46-85E5-00C8A1CFA1DD}">
      <dgm:prSet/>
      <dgm:spPr/>
      <dgm:t>
        <a:bodyPr/>
        <a:lstStyle/>
        <a:p>
          <a:endParaRPr lang="en-US"/>
        </a:p>
      </dgm:t>
    </dgm:pt>
    <dgm:pt modelId="{CD1E20AE-4775-684D-8498-EE7E7059A648}" type="sibTrans" cxnId="{6A4FC6C7-58A9-6B46-85E5-00C8A1CFA1DD}">
      <dgm:prSet/>
      <dgm:spPr/>
      <dgm:t>
        <a:bodyPr/>
        <a:lstStyle/>
        <a:p>
          <a:endParaRPr lang="en-US"/>
        </a:p>
      </dgm:t>
    </dgm:pt>
    <dgm:pt modelId="{EA017C28-89AD-7A40-BC88-911ACC67C8C4}">
      <dgm:prSet/>
      <dgm:spPr>
        <a:solidFill>
          <a:schemeClr val="bg2">
            <a:lumMod val="90000"/>
          </a:schemeClr>
        </a:solidFill>
        <a:ln>
          <a:noFill/>
        </a:ln>
      </dgm:spPr>
      <dgm:t>
        <a:bodyPr/>
        <a:lstStyle/>
        <a:p>
          <a:r>
            <a:rPr lang="en-US" dirty="0"/>
            <a:t>Biggest performance gain obtained by  modifying the </a:t>
          </a:r>
          <a:r>
            <a:rPr lang="en-US" b="1" dirty="0">
              <a:solidFill>
                <a:schemeClr val="accent2"/>
              </a:solidFill>
            </a:rPr>
            <a:t>Cross Entropy loss weights</a:t>
          </a:r>
          <a:r>
            <a:rPr lang="en-US" dirty="0"/>
            <a:t>.</a:t>
          </a:r>
        </a:p>
      </dgm:t>
    </dgm:pt>
    <dgm:pt modelId="{C0AB897B-87C7-AB47-AB6C-22E89CBBAF8B}" type="parTrans" cxnId="{AA176FE5-D4CA-F346-8B59-4010A7381BCE}">
      <dgm:prSet/>
      <dgm:spPr/>
      <dgm:t>
        <a:bodyPr/>
        <a:lstStyle/>
        <a:p>
          <a:endParaRPr lang="en-US"/>
        </a:p>
      </dgm:t>
    </dgm:pt>
    <dgm:pt modelId="{B4354A4A-09A6-E84A-8157-A9A40E934510}" type="sibTrans" cxnId="{AA176FE5-D4CA-F346-8B59-4010A7381BCE}">
      <dgm:prSet/>
      <dgm:spPr/>
      <dgm:t>
        <a:bodyPr/>
        <a:lstStyle/>
        <a:p>
          <a:endParaRPr lang="en-US"/>
        </a:p>
      </dgm:t>
    </dgm:pt>
    <dgm:pt modelId="{6C8CC437-E4FA-9941-B3C0-D148388B3EBA}" type="pres">
      <dgm:prSet presAssocID="{ACB0FF5F-0DB9-AA4D-B74D-08E8A154D6CE}" presName="linear" presStyleCnt="0">
        <dgm:presLayoutVars>
          <dgm:animLvl val="lvl"/>
          <dgm:resizeHandles val="exact"/>
        </dgm:presLayoutVars>
      </dgm:prSet>
      <dgm:spPr/>
    </dgm:pt>
    <dgm:pt modelId="{13D75330-EB87-1B4E-AD27-5777A5FDE438}" type="pres">
      <dgm:prSet presAssocID="{5159612C-E3C6-6F4E-92AA-C2F8464AE740}" presName="parentText" presStyleLbl="node1" presStyleIdx="0" presStyleCnt="4" custLinFactY="-91366" custLinFactNeighborY="-100000">
        <dgm:presLayoutVars>
          <dgm:chMax val="0"/>
          <dgm:bulletEnabled val="1"/>
        </dgm:presLayoutVars>
      </dgm:prSet>
      <dgm:spPr/>
    </dgm:pt>
    <dgm:pt modelId="{77F6D5B3-8404-6445-9FAD-B5C196F96C85}" type="pres">
      <dgm:prSet presAssocID="{69A47304-42F0-0A48-96D4-AB1512C0A1AC}" presName="spacer" presStyleCnt="0"/>
      <dgm:spPr/>
    </dgm:pt>
    <dgm:pt modelId="{370C85E9-6A04-C447-AC7A-8A358FA1CCD2}" type="pres">
      <dgm:prSet presAssocID="{69E24E03-086A-574E-B78F-530ED2338457}" presName="parentText" presStyleLbl="node1" presStyleIdx="1" presStyleCnt="4" custLinFactY="-5132" custLinFactNeighborY="-100000">
        <dgm:presLayoutVars>
          <dgm:chMax val="0"/>
          <dgm:bulletEnabled val="1"/>
        </dgm:presLayoutVars>
      </dgm:prSet>
      <dgm:spPr/>
    </dgm:pt>
    <dgm:pt modelId="{B463EDBB-AB48-DB4A-A494-5EBE9F88A392}" type="pres">
      <dgm:prSet presAssocID="{76AD5AAA-080A-8B4F-A903-68F521E48FFE}" presName="spacer" presStyleCnt="0"/>
      <dgm:spPr/>
    </dgm:pt>
    <dgm:pt modelId="{053D8863-8F64-2E41-A872-7BA87DE46291}" type="pres">
      <dgm:prSet presAssocID="{780EBD0C-B05F-8F4C-A7E5-C87DAC98B864}" presName="parentText" presStyleLbl="node1" presStyleIdx="2" presStyleCnt="4" custLinFactY="13775" custLinFactNeighborY="100000">
        <dgm:presLayoutVars>
          <dgm:chMax val="0"/>
          <dgm:bulletEnabled val="1"/>
        </dgm:presLayoutVars>
      </dgm:prSet>
      <dgm:spPr/>
    </dgm:pt>
    <dgm:pt modelId="{88128CC0-ADAE-0B4C-845B-32ADC4A894E2}" type="pres">
      <dgm:prSet presAssocID="{CD1E20AE-4775-684D-8498-EE7E7059A648}" presName="spacer" presStyleCnt="0"/>
      <dgm:spPr/>
    </dgm:pt>
    <dgm:pt modelId="{B40D5D96-C482-1D47-AE85-3140951452DF}" type="pres">
      <dgm:prSet presAssocID="{EA017C28-89AD-7A40-BC88-911ACC67C8C4}" presName="parentText" presStyleLbl="node1" presStyleIdx="3" presStyleCnt="4" custLinFactY="62269" custLinFactNeighborY="100000">
        <dgm:presLayoutVars>
          <dgm:chMax val="0"/>
          <dgm:bulletEnabled val="1"/>
        </dgm:presLayoutVars>
      </dgm:prSet>
      <dgm:spPr/>
    </dgm:pt>
  </dgm:ptLst>
  <dgm:cxnLst>
    <dgm:cxn modelId="{19B0B31A-1D85-6346-9A20-A43269842DE2}" srcId="{ACB0FF5F-0DB9-AA4D-B74D-08E8A154D6CE}" destId="{5159612C-E3C6-6F4E-92AA-C2F8464AE740}" srcOrd="0" destOrd="0" parTransId="{2BB50982-115B-F446-9231-A52A65DE02F0}" sibTransId="{69A47304-42F0-0A48-96D4-AB1512C0A1AC}"/>
    <dgm:cxn modelId="{E7822A25-AA92-8749-874B-DDD5D65B74FC}" type="presOf" srcId="{780EBD0C-B05F-8F4C-A7E5-C87DAC98B864}" destId="{053D8863-8F64-2E41-A872-7BA87DE46291}" srcOrd="0" destOrd="0" presId="urn:microsoft.com/office/officeart/2005/8/layout/vList2"/>
    <dgm:cxn modelId="{BB5D0B4D-2278-6944-991A-3A21CA85FDFB}" type="presOf" srcId="{69E24E03-086A-574E-B78F-530ED2338457}" destId="{370C85E9-6A04-C447-AC7A-8A358FA1CCD2}" srcOrd="0" destOrd="0" presId="urn:microsoft.com/office/officeart/2005/8/layout/vList2"/>
    <dgm:cxn modelId="{8BB2AF4E-BFD9-974C-8161-0184CFD199DD}" type="presOf" srcId="{ACB0FF5F-0DB9-AA4D-B74D-08E8A154D6CE}" destId="{6C8CC437-E4FA-9941-B3C0-D148388B3EBA}" srcOrd="0" destOrd="0" presId="urn:microsoft.com/office/officeart/2005/8/layout/vList2"/>
    <dgm:cxn modelId="{A6DC3A65-ACE2-9F41-8242-99CA85B1F5B0}" type="presOf" srcId="{EA017C28-89AD-7A40-BC88-911ACC67C8C4}" destId="{B40D5D96-C482-1D47-AE85-3140951452DF}" srcOrd="0" destOrd="0" presId="urn:microsoft.com/office/officeart/2005/8/layout/vList2"/>
    <dgm:cxn modelId="{DBD81A8F-7A3F-D446-8ECB-77FAF6050AB5}" type="presOf" srcId="{5159612C-E3C6-6F4E-92AA-C2F8464AE740}" destId="{13D75330-EB87-1B4E-AD27-5777A5FDE438}" srcOrd="0" destOrd="0" presId="urn:microsoft.com/office/officeart/2005/8/layout/vList2"/>
    <dgm:cxn modelId="{6A4FC6C7-58A9-6B46-85E5-00C8A1CFA1DD}" srcId="{ACB0FF5F-0DB9-AA4D-B74D-08E8A154D6CE}" destId="{780EBD0C-B05F-8F4C-A7E5-C87DAC98B864}" srcOrd="2" destOrd="0" parTransId="{E4FF93A7-BCE2-1146-87A5-76D608855813}" sibTransId="{CD1E20AE-4775-684D-8498-EE7E7059A648}"/>
    <dgm:cxn modelId="{8F626FDB-340E-4D4F-BD35-C4F83F92558A}" srcId="{ACB0FF5F-0DB9-AA4D-B74D-08E8A154D6CE}" destId="{69E24E03-086A-574E-B78F-530ED2338457}" srcOrd="1" destOrd="0" parTransId="{21738E6E-185B-514A-99F5-1D74534C72EF}" sibTransId="{76AD5AAA-080A-8B4F-A903-68F521E48FFE}"/>
    <dgm:cxn modelId="{AA176FE5-D4CA-F346-8B59-4010A7381BCE}" srcId="{ACB0FF5F-0DB9-AA4D-B74D-08E8A154D6CE}" destId="{EA017C28-89AD-7A40-BC88-911ACC67C8C4}" srcOrd="3" destOrd="0" parTransId="{C0AB897B-87C7-AB47-AB6C-22E89CBBAF8B}" sibTransId="{B4354A4A-09A6-E84A-8157-A9A40E934510}"/>
    <dgm:cxn modelId="{A4E48B19-3AF0-684A-BF6A-230BC9996CCB}" type="presParOf" srcId="{6C8CC437-E4FA-9941-B3C0-D148388B3EBA}" destId="{13D75330-EB87-1B4E-AD27-5777A5FDE438}" srcOrd="0" destOrd="0" presId="urn:microsoft.com/office/officeart/2005/8/layout/vList2"/>
    <dgm:cxn modelId="{41482FD4-3F63-0748-A7F0-E5B1FAE7A6EA}" type="presParOf" srcId="{6C8CC437-E4FA-9941-B3C0-D148388B3EBA}" destId="{77F6D5B3-8404-6445-9FAD-B5C196F96C85}" srcOrd="1" destOrd="0" presId="urn:microsoft.com/office/officeart/2005/8/layout/vList2"/>
    <dgm:cxn modelId="{0B048515-788E-D544-B3CD-5134B51CB370}" type="presParOf" srcId="{6C8CC437-E4FA-9941-B3C0-D148388B3EBA}" destId="{370C85E9-6A04-C447-AC7A-8A358FA1CCD2}" srcOrd="2" destOrd="0" presId="urn:microsoft.com/office/officeart/2005/8/layout/vList2"/>
    <dgm:cxn modelId="{E152E1B3-EE45-9846-A351-550C84A57AF2}" type="presParOf" srcId="{6C8CC437-E4FA-9941-B3C0-D148388B3EBA}" destId="{B463EDBB-AB48-DB4A-A494-5EBE9F88A392}" srcOrd="3" destOrd="0" presId="urn:microsoft.com/office/officeart/2005/8/layout/vList2"/>
    <dgm:cxn modelId="{7749FA49-9FA5-D441-881E-276EF7775522}" type="presParOf" srcId="{6C8CC437-E4FA-9941-B3C0-D148388B3EBA}" destId="{053D8863-8F64-2E41-A872-7BA87DE46291}" srcOrd="4" destOrd="0" presId="urn:microsoft.com/office/officeart/2005/8/layout/vList2"/>
    <dgm:cxn modelId="{DFEF8F58-E24E-1C46-8653-55679E184DAB}" type="presParOf" srcId="{6C8CC437-E4FA-9941-B3C0-D148388B3EBA}" destId="{88128CC0-ADAE-0B4C-845B-32ADC4A894E2}" srcOrd="5" destOrd="0" presId="urn:microsoft.com/office/officeart/2005/8/layout/vList2"/>
    <dgm:cxn modelId="{C3EE4860-0BC4-2343-B573-0D9D39605427}" type="presParOf" srcId="{6C8CC437-E4FA-9941-B3C0-D148388B3EBA}" destId="{B40D5D96-C482-1D47-AE85-3140951452D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0AB742-9DE8-0A4D-ABB2-E72809626DD1}">
      <dsp:nvSpPr>
        <dsp:cNvPr id="0" name=""/>
        <dsp:cNvSpPr/>
      </dsp:nvSpPr>
      <dsp:spPr>
        <a:xfrm>
          <a:off x="0" y="34625"/>
          <a:ext cx="3203971" cy="748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Data approach</a:t>
          </a:r>
        </a:p>
      </dsp:txBody>
      <dsp:txXfrm>
        <a:off x="0" y="34625"/>
        <a:ext cx="3203971" cy="748800"/>
      </dsp:txXfrm>
    </dsp:sp>
    <dsp:sp modelId="{42229F31-39CB-EF43-8CE7-7CE58142B754}">
      <dsp:nvSpPr>
        <dsp:cNvPr id="0" name=""/>
        <dsp:cNvSpPr/>
      </dsp:nvSpPr>
      <dsp:spPr>
        <a:xfrm>
          <a:off x="3286" y="783425"/>
          <a:ext cx="3203971" cy="27120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kern="1200" dirty="0"/>
            <a:t>More data exploration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kern="1200" dirty="0"/>
            <a:t>Feature engineering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kern="1200" dirty="0"/>
            <a:t>Different train/test split</a:t>
          </a:r>
        </a:p>
      </dsp:txBody>
      <dsp:txXfrm>
        <a:off x="3286" y="783425"/>
        <a:ext cx="3203971" cy="2712060"/>
      </dsp:txXfrm>
    </dsp:sp>
    <dsp:sp modelId="{AF4E56B2-E421-5A4A-8CC2-EEF684763770}">
      <dsp:nvSpPr>
        <dsp:cNvPr id="0" name=""/>
        <dsp:cNvSpPr/>
      </dsp:nvSpPr>
      <dsp:spPr>
        <a:xfrm>
          <a:off x="3655814" y="34625"/>
          <a:ext cx="3203971" cy="7488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Classification task</a:t>
          </a:r>
        </a:p>
      </dsp:txBody>
      <dsp:txXfrm>
        <a:off x="3655814" y="34625"/>
        <a:ext cx="3203971" cy="748800"/>
      </dsp:txXfrm>
    </dsp:sp>
    <dsp:sp modelId="{473DA392-E438-8542-A58D-1F149A005168}">
      <dsp:nvSpPr>
        <dsp:cNvPr id="0" name=""/>
        <dsp:cNvSpPr/>
      </dsp:nvSpPr>
      <dsp:spPr>
        <a:xfrm>
          <a:off x="3655814" y="783425"/>
          <a:ext cx="3203971" cy="271206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1" kern="1200" dirty="0"/>
            <a:t>Binary</a:t>
          </a:r>
          <a:r>
            <a:rPr lang="en-US" sz="2600" kern="1200" dirty="0"/>
            <a:t>: healthy vs disease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1" kern="1200" dirty="0"/>
            <a:t>Triple</a:t>
          </a:r>
          <a:r>
            <a:rPr lang="en-US" sz="2600" kern="1200" dirty="0"/>
            <a:t>: only classes 1 to 3</a:t>
          </a:r>
        </a:p>
      </dsp:txBody>
      <dsp:txXfrm>
        <a:off x="3655814" y="783425"/>
        <a:ext cx="3203971" cy="2712060"/>
      </dsp:txXfrm>
    </dsp:sp>
    <dsp:sp modelId="{E011CE80-3664-214A-90DC-63929AA54979}">
      <dsp:nvSpPr>
        <dsp:cNvPr id="0" name=""/>
        <dsp:cNvSpPr/>
      </dsp:nvSpPr>
      <dsp:spPr>
        <a:xfrm>
          <a:off x="7308342" y="34625"/>
          <a:ext cx="3203971" cy="7488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Modeling</a:t>
          </a:r>
        </a:p>
      </dsp:txBody>
      <dsp:txXfrm>
        <a:off x="7308342" y="34625"/>
        <a:ext cx="3203971" cy="748800"/>
      </dsp:txXfrm>
    </dsp:sp>
    <dsp:sp modelId="{28936A10-E7B5-5D40-BAC4-05B1243E5DE9}">
      <dsp:nvSpPr>
        <dsp:cNvPr id="0" name=""/>
        <dsp:cNvSpPr/>
      </dsp:nvSpPr>
      <dsp:spPr>
        <a:xfrm>
          <a:off x="7308342" y="783425"/>
          <a:ext cx="3203971" cy="271206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b="1" kern="1200" dirty="0" err="1"/>
            <a:t>xLSTM</a:t>
          </a:r>
          <a:r>
            <a:rPr lang="en-US" sz="2600" kern="1200" dirty="0"/>
            <a:t> (m and s)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b="1" kern="1200" dirty="0"/>
            <a:t>Foundation model</a:t>
          </a:r>
          <a:r>
            <a:rPr lang="en-US" sz="2600" kern="1200" dirty="0"/>
            <a:t>: MantisV2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b="1" kern="1200" dirty="0"/>
            <a:t>HPO</a:t>
          </a:r>
          <a:r>
            <a:rPr lang="en-US" sz="2600" kern="1200" dirty="0"/>
            <a:t>: transformer</a:t>
          </a:r>
        </a:p>
      </dsp:txBody>
      <dsp:txXfrm>
        <a:off x="7308342" y="783425"/>
        <a:ext cx="3203971" cy="27120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0AB742-9DE8-0A4D-ABB2-E72809626DD1}">
      <dsp:nvSpPr>
        <dsp:cNvPr id="0" name=""/>
        <dsp:cNvSpPr/>
      </dsp:nvSpPr>
      <dsp:spPr>
        <a:xfrm>
          <a:off x="0" y="34625"/>
          <a:ext cx="3203971" cy="748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Data approach</a:t>
          </a:r>
        </a:p>
      </dsp:txBody>
      <dsp:txXfrm>
        <a:off x="0" y="34625"/>
        <a:ext cx="3203971" cy="748800"/>
      </dsp:txXfrm>
    </dsp:sp>
    <dsp:sp modelId="{42229F31-39CB-EF43-8CE7-7CE58142B754}">
      <dsp:nvSpPr>
        <dsp:cNvPr id="0" name=""/>
        <dsp:cNvSpPr/>
      </dsp:nvSpPr>
      <dsp:spPr>
        <a:xfrm>
          <a:off x="3286" y="783425"/>
          <a:ext cx="3203971" cy="27120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strike="sngStrike" kern="1200" dirty="0"/>
            <a:t>More data exploration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kern="1200" dirty="0">
              <a:solidFill>
                <a:schemeClr val="accent3"/>
              </a:solidFill>
            </a:rPr>
            <a:t>Feature engineering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strike="sngStrike" kern="1200" dirty="0"/>
            <a:t>Different train/test </a:t>
          </a:r>
          <a:r>
            <a:rPr lang="en-US" sz="2600" u="none" strike="sngStrike" kern="1200" dirty="0"/>
            <a:t>split</a:t>
          </a:r>
        </a:p>
      </dsp:txBody>
      <dsp:txXfrm>
        <a:off x="3286" y="783425"/>
        <a:ext cx="3203971" cy="2712060"/>
      </dsp:txXfrm>
    </dsp:sp>
    <dsp:sp modelId="{AF4E56B2-E421-5A4A-8CC2-EEF684763770}">
      <dsp:nvSpPr>
        <dsp:cNvPr id="0" name=""/>
        <dsp:cNvSpPr/>
      </dsp:nvSpPr>
      <dsp:spPr>
        <a:xfrm>
          <a:off x="3655814" y="34625"/>
          <a:ext cx="3203971" cy="7488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Classification task</a:t>
          </a:r>
        </a:p>
      </dsp:txBody>
      <dsp:txXfrm>
        <a:off x="3655814" y="34625"/>
        <a:ext cx="3203971" cy="748800"/>
      </dsp:txXfrm>
    </dsp:sp>
    <dsp:sp modelId="{473DA392-E438-8542-A58D-1F149A005168}">
      <dsp:nvSpPr>
        <dsp:cNvPr id="0" name=""/>
        <dsp:cNvSpPr/>
      </dsp:nvSpPr>
      <dsp:spPr>
        <a:xfrm>
          <a:off x="3655814" y="783425"/>
          <a:ext cx="3203971" cy="271206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1" kern="1200" dirty="0">
              <a:solidFill>
                <a:schemeClr val="accent3"/>
              </a:solidFill>
            </a:rPr>
            <a:t>Binary</a:t>
          </a:r>
          <a:r>
            <a:rPr lang="en-US" sz="2600" kern="1200" dirty="0">
              <a:solidFill>
                <a:schemeClr val="accent3"/>
              </a:solidFill>
            </a:rPr>
            <a:t>: healthy vs disease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1" u="none" strike="sngStrike" kern="1200" dirty="0"/>
            <a:t>Triple</a:t>
          </a:r>
          <a:r>
            <a:rPr lang="en-US" sz="2600" u="none" strike="sngStrike" kern="1200" dirty="0"/>
            <a:t>: only classes 1 to 3</a:t>
          </a:r>
        </a:p>
      </dsp:txBody>
      <dsp:txXfrm>
        <a:off x="3655814" y="783425"/>
        <a:ext cx="3203971" cy="2712060"/>
      </dsp:txXfrm>
    </dsp:sp>
    <dsp:sp modelId="{E011CE80-3664-214A-90DC-63929AA54979}">
      <dsp:nvSpPr>
        <dsp:cNvPr id="0" name=""/>
        <dsp:cNvSpPr/>
      </dsp:nvSpPr>
      <dsp:spPr>
        <a:xfrm>
          <a:off x="7308342" y="34625"/>
          <a:ext cx="3203971" cy="7488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Modeling</a:t>
          </a:r>
        </a:p>
      </dsp:txBody>
      <dsp:txXfrm>
        <a:off x="7308342" y="34625"/>
        <a:ext cx="3203971" cy="748800"/>
      </dsp:txXfrm>
    </dsp:sp>
    <dsp:sp modelId="{28936A10-E7B5-5D40-BAC4-05B1243E5DE9}">
      <dsp:nvSpPr>
        <dsp:cNvPr id="0" name=""/>
        <dsp:cNvSpPr/>
      </dsp:nvSpPr>
      <dsp:spPr>
        <a:xfrm>
          <a:off x="7308342" y="783425"/>
          <a:ext cx="3203971" cy="271206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b="1" strike="sngStrike" kern="1200" dirty="0" err="1"/>
            <a:t>xLSTM</a:t>
          </a:r>
          <a:r>
            <a:rPr lang="en-US" sz="2600" strike="sngStrike" kern="1200" dirty="0"/>
            <a:t> (m and s)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b="1" strike="sngStrike" kern="1200" dirty="0"/>
            <a:t>Foundation model</a:t>
          </a:r>
          <a:r>
            <a:rPr lang="en-US" sz="2600" strike="sngStrike" kern="1200" dirty="0"/>
            <a:t>: MantisV2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b="1" kern="1200" dirty="0">
              <a:solidFill>
                <a:schemeClr val="accent3"/>
              </a:solidFill>
            </a:rPr>
            <a:t>HPO</a:t>
          </a:r>
          <a:r>
            <a:rPr lang="en-US" sz="2600" kern="1200" dirty="0">
              <a:solidFill>
                <a:schemeClr val="accent3"/>
              </a:solidFill>
            </a:rPr>
            <a:t>: transformer</a:t>
          </a:r>
        </a:p>
      </dsp:txBody>
      <dsp:txXfrm>
        <a:off x="7308342" y="783425"/>
        <a:ext cx="3203971" cy="27120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6B0DB5-93A1-4037-997E-5D334B1A72AB}">
      <dsp:nvSpPr>
        <dsp:cNvPr id="0" name=""/>
        <dsp:cNvSpPr/>
      </dsp:nvSpPr>
      <dsp:spPr>
        <a:xfrm>
          <a:off x="0" y="1806"/>
          <a:ext cx="105156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526195-24A4-4920-BDEE-78AC85140176}">
      <dsp:nvSpPr>
        <dsp:cNvPr id="0" name=""/>
        <dsp:cNvSpPr/>
      </dsp:nvSpPr>
      <dsp:spPr>
        <a:xfrm>
          <a:off x="276958" y="207808"/>
          <a:ext cx="503560" cy="503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F949F1-A86C-47E7-9A99-B08C09829CCF}">
      <dsp:nvSpPr>
        <dsp:cNvPr id="0" name=""/>
        <dsp:cNvSpPr/>
      </dsp:nvSpPr>
      <dsp:spPr>
        <a:xfrm>
          <a:off x="1057476" y="1806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Class similarity</a:t>
          </a:r>
          <a:r>
            <a:rPr lang="en-US" sz="2200" kern="1200" dirty="0"/>
            <a:t>: Healthy and disease are  not distinguishable</a:t>
          </a:r>
        </a:p>
      </dsp:txBody>
      <dsp:txXfrm>
        <a:off x="1057476" y="1806"/>
        <a:ext cx="9458123" cy="915564"/>
      </dsp:txXfrm>
    </dsp:sp>
    <dsp:sp modelId="{9B0996F0-1D76-4B2E-AD3F-B0EE048D47A0}">
      <dsp:nvSpPr>
        <dsp:cNvPr id="0" name=""/>
        <dsp:cNvSpPr/>
      </dsp:nvSpPr>
      <dsp:spPr>
        <a:xfrm>
          <a:off x="0" y="1146262"/>
          <a:ext cx="105156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2AAFAF-B23E-4EFB-BEFE-734DBBE75B43}">
      <dsp:nvSpPr>
        <dsp:cNvPr id="0" name=""/>
        <dsp:cNvSpPr/>
      </dsp:nvSpPr>
      <dsp:spPr>
        <a:xfrm>
          <a:off x="276958" y="1352264"/>
          <a:ext cx="503560" cy="503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AF274-1976-4978-A608-A67A6C579EB0}">
      <dsp:nvSpPr>
        <dsp:cNvPr id="0" name=""/>
        <dsp:cNvSpPr/>
      </dsp:nvSpPr>
      <dsp:spPr>
        <a:xfrm>
          <a:off x="1057476" y="1146262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Computing</a:t>
          </a:r>
          <a:r>
            <a:rPr lang="en-US" sz="2200" kern="1200" dirty="0"/>
            <a:t>: Currently only running on MacBook</a:t>
          </a:r>
        </a:p>
      </dsp:txBody>
      <dsp:txXfrm>
        <a:off x="1057476" y="1146262"/>
        <a:ext cx="9458123" cy="915564"/>
      </dsp:txXfrm>
    </dsp:sp>
    <dsp:sp modelId="{1DD6446A-9A5D-4459-A6BE-B818F421AEC6}">
      <dsp:nvSpPr>
        <dsp:cNvPr id="0" name=""/>
        <dsp:cNvSpPr/>
      </dsp:nvSpPr>
      <dsp:spPr>
        <a:xfrm>
          <a:off x="0" y="2290717"/>
          <a:ext cx="105156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447AA3-B986-4CCE-8D36-03E8C73F32BC}">
      <dsp:nvSpPr>
        <dsp:cNvPr id="0" name=""/>
        <dsp:cNvSpPr/>
      </dsp:nvSpPr>
      <dsp:spPr>
        <a:xfrm>
          <a:off x="276958" y="2496719"/>
          <a:ext cx="503560" cy="503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B1504-4D79-442E-8FA4-BDCBFE009C08}">
      <dsp:nvSpPr>
        <dsp:cNvPr id="0" name=""/>
        <dsp:cNvSpPr/>
      </dsp:nvSpPr>
      <dsp:spPr>
        <a:xfrm>
          <a:off x="1057476" y="2290717"/>
          <a:ext cx="4732020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Poor</a:t>
          </a:r>
          <a:r>
            <a:rPr lang="en-US" sz="2200" kern="1200" dirty="0"/>
            <a:t> </a:t>
          </a:r>
          <a:r>
            <a:rPr lang="en-US" sz="2200" b="1" kern="1200" dirty="0"/>
            <a:t>generalization and robustness</a:t>
          </a:r>
          <a:r>
            <a:rPr lang="en-US" sz="2200" kern="1200" dirty="0"/>
            <a:t>:</a:t>
          </a:r>
        </a:p>
      </dsp:txBody>
      <dsp:txXfrm>
        <a:off x="1057476" y="2290717"/>
        <a:ext cx="4732020" cy="915564"/>
      </dsp:txXfrm>
    </dsp:sp>
    <dsp:sp modelId="{7C402080-0180-4A26-A764-8E0001D586BA}">
      <dsp:nvSpPr>
        <dsp:cNvPr id="0" name=""/>
        <dsp:cNvSpPr/>
      </dsp:nvSpPr>
      <dsp:spPr>
        <a:xfrm>
          <a:off x="5789496" y="2290717"/>
          <a:ext cx="472610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Single patient → </a:t>
          </a:r>
          <a:r>
            <a:rPr lang="en-US" sz="1200" kern="1200" dirty="0"/>
            <a:t>Data should be collected from multiple patients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Single center → </a:t>
          </a:r>
          <a:r>
            <a:rPr lang="en-US" sz="1200" kern="1200" dirty="0"/>
            <a:t>Not generalizable for different machines or possible noise</a:t>
          </a:r>
        </a:p>
      </dsp:txBody>
      <dsp:txXfrm>
        <a:off x="5789496" y="2290717"/>
        <a:ext cx="4726103" cy="915564"/>
      </dsp:txXfrm>
    </dsp:sp>
    <dsp:sp modelId="{0A67FC5E-775B-4231-B2C4-DF84F165E1F7}">
      <dsp:nvSpPr>
        <dsp:cNvPr id="0" name=""/>
        <dsp:cNvSpPr/>
      </dsp:nvSpPr>
      <dsp:spPr>
        <a:xfrm>
          <a:off x="0" y="3435173"/>
          <a:ext cx="105156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E8DB40-EE74-43E1-82E6-541064C41AEC}">
      <dsp:nvSpPr>
        <dsp:cNvPr id="0" name=""/>
        <dsp:cNvSpPr/>
      </dsp:nvSpPr>
      <dsp:spPr>
        <a:xfrm>
          <a:off x="276958" y="3641175"/>
          <a:ext cx="503560" cy="503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04535C-365B-48D6-ADFE-DBFBAC7AFBBB}">
      <dsp:nvSpPr>
        <dsp:cNvPr id="0" name=""/>
        <dsp:cNvSpPr/>
      </dsp:nvSpPr>
      <dsp:spPr>
        <a:xfrm>
          <a:off x="1057476" y="3435173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Time to try more …</a:t>
          </a:r>
        </a:p>
      </dsp:txBody>
      <dsp:txXfrm>
        <a:off x="1057476" y="3435173"/>
        <a:ext cx="9458123" cy="9155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D75330-EB87-1B4E-AD27-5777A5FDE438}">
      <dsp:nvSpPr>
        <dsp:cNvPr id="0" name=""/>
        <dsp:cNvSpPr/>
      </dsp:nvSpPr>
      <dsp:spPr>
        <a:xfrm>
          <a:off x="0" y="0"/>
          <a:ext cx="5449095" cy="795600"/>
        </a:xfrm>
        <a:prstGeom prst="roundRect">
          <a:avLst/>
        </a:prstGeom>
        <a:solidFill>
          <a:schemeClr val="bg2">
            <a:lumMod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Multiclass Classification is not the best suited task for this data set </a:t>
          </a:r>
          <a:r>
            <a:rPr lang="en-US" sz="2000" b="1" kern="1200" cap="none" spc="0" dirty="0">
              <a:ln w="0"/>
              <a:solidFill>
                <a:schemeClr val="accent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→ Anomaly detection </a:t>
          </a:r>
          <a:endParaRPr lang="en-US" sz="2000" b="1" kern="1200" dirty="0">
            <a:solidFill>
              <a:schemeClr val="accent3"/>
            </a:solidFill>
          </a:endParaRPr>
        </a:p>
      </dsp:txBody>
      <dsp:txXfrm>
        <a:off x="38838" y="38838"/>
        <a:ext cx="5371419" cy="717924"/>
      </dsp:txXfrm>
    </dsp:sp>
    <dsp:sp modelId="{370C85E9-6A04-C447-AC7A-8A358FA1CCD2}">
      <dsp:nvSpPr>
        <dsp:cNvPr id="0" name=""/>
        <dsp:cNvSpPr/>
      </dsp:nvSpPr>
      <dsp:spPr>
        <a:xfrm>
          <a:off x="0" y="1200828"/>
          <a:ext cx="5449095" cy="795600"/>
        </a:xfrm>
        <a:prstGeom prst="roundRect">
          <a:avLst/>
        </a:prstGeom>
        <a:solidFill>
          <a:schemeClr val="bg2">
            <a:lumMod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Higher </a:t>
          </a:r>
          <a:r>
            <a:rPr lang="en-US" sz="2000" b="1" kern="1200" dirty="0">
              <a:solidFill>
                <a:schemeClr val="tx2">
                  <a:lumMod val="75000"/>
                  <a:lumOff val="25000"/>
                </a:schemeClr>
              </a:solidFill>
            </a:rPr>
            <a:t>model complexity </a:t>
          </a:r>
          <a:r>
            <a:rPr lang="en-US" sz="2000" kern="1200" dirty="0"/>
            <a:t>doesn’t translate into </a:t>
          </a:r>
          <a:r>
            <a:rPr lang="en-US" sz="2000" b="1" kern="1200" dirty="0">
              <a:solidFill>
                <a:schemeClr val="tx2">
                  <a:lumMod val="75000"/>
                  <a:lumOff val="25000"/>
                </a:schemeClr>
              </a:solidFill>
            </a:rPr>
            <a:t>better performance</a:t>
          </a:r>
          <a:r>
            <a:rPr lang="en-US" sz="2000" kern="1200" dirty="0">
              <a:solidFill>
                <a:schemeClr val="tx2">
                  <a:lumMod val="75000"/>
                  <a:lumOff val="25000"/>
                </a:schemeClr>
              </a:solidFill>
            </a:rPr>
            <a:t>.</a:t>
          </a:r>
        </a:p>
      </dsp:txBody>
      <dsp:txXfrm>
        <a:off x="38838" y="1239666"/>
        <a:ext cx="5371419" cy="717924"/>
      </dsp:txXfrm>
    </dsp:sp>
    <dsp:sp modelId="{053D8863-8F64-2E41-A872-7BA87DE46291}">
      <dsp:nvSpPr>
        <dsp:cNvPr id="0" name=""/>
        <dsp:cNvSpPr/>
      </dsp:nvSpPr>
      <dsp:spPr>
        <a:xfrm>
          <a:off x="0" y="2319652"/>
          <a:ext cx="5449095" cy="795600"/>
        </a:xfrm>
        <a:prstGeom prst="roundRect">
          <a:avLst/>
        </a:prstGeom>
        <a:solidFill>
          <a:schemeClr val="bg2">
            <a:lumMod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2">
                  <a:lumMod val="75000"/>
                  <a:lumOff val="25000"/>
                </a:schemeClr>
              </a:solidFill>
            </a:rPr>
            <a:t>Hyperparameter tunning</a:t>
          </a:r>
          <a:r>
            <a:rPr lang="en-US" sz="2000" kern="1200" dirty="0">
              <a:solidFill>
                <a:schemeClr val="tx2">
                  <a:lumMod val="75000"/>
                  <a:lumOff val="25000"/>
                </a:schemeClr>
              </a:solidFill>
            </a:rPr>
            <a:t>: </a:t>
          </a:r>
          <a:r>
            <a:rPr lang="en-US" sz="2000" kern="1200" dirty="0"/>
            <a:t>Better fitted from more complex tasks</a:t>
          </a:r>
        </a:p>
      </dsp:txBody>
      <dsp:txXfrm>
        <a:off x="38838" y="2358490"/>
        <a:ext cx="5371419" cy="717924"/>
      </dsp:txXfrm>
    </dsp:sp>
    <dsp:sp modelId="{B40D5D96-C482-1D47-AE85-3140951452DF}">
      <dsp:nvSpPr>
        <dsp:cNvPr id="0" name=""/>
        <dsp:cNvSpPr/>
      </dsp:nvSpPr>
      <dsp:spPr>
        <a:xfrm>
          <a:off x="0" y="3451717"/>
          <a:ext cx="5449095" cy="795600"/>
        </a:xfrm>
        <a:prstGeom prst="roundRect">
          <a:avLst/>
        </a:prstGeom>
        <a:solidFill>
          <a:schemeClr val="bg2">
            <a:lumMod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Biggest performance gain obtained by  modifying the </a:t>
          </a:r>
          <a:r>
            <a:rPr lang="en-US" sz="2000" b="1" kern="1200" dirty="0">
              <a:solidFill>
                <a:schemeClr val="accent2"/>
              </a:solidFill>
            </a:rPr>
            <a:t>Cross Entropy loss weights</a:t>
          </a:r>
          <a:r>
            <a:rPr lang="en-US" sz="2000" kern="1200" dirty="0"/>
            <a:t>.</a:t>
          </a:r>
        </a:p>
      </dsp:txBody>
      <dsp:txXfrm>
        <a:off x="38838" y="3490555"/>
        <a:ext cx="5371419" cy="717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7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D7F301-041A-3945-8781-641B79E4A7F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87E91-7656-2F44-81ED-DBB4CD504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71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87E91-7656-2F44-81ED-DBB4CD504C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78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E75F3-5ED0-45B4-D8D7-807D4144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56BDC-468C-54A3-8170-F1C07CFF9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FE70D-7072-31D2-AA98-F9728BF80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CF31B-078F-21E5-C2FC-8551D59C6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87E91-7656-2F44-81ED-DBB4CD504C7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45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C0EC5-C74A-9560-07B2-AFB4BB329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43548F-63A8-3FEF-B760-B14ADA8C6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0B52-614B-A3EA-E156-B68049209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43216-8EDE-4A7D-09F4-B172250B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A6962-7C0C-8555-93AF-33EC8D0B1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99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FD734-6FDA-7DDF-E3F8-0DB910AAD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2E85A-5FC1-E17D-FF05-881A31D19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5E3F5-54B2-9996-EA71-2CA4DD2CC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8E449-BEBA-907F-1BF2-EA60AE82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A14D6-6A59-BCD6-7FD0-CFE365A18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45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4E04-ABA9-1D71-C03E-179099370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56D16-F4D9-EEDB-4043-2AED5162B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8810E-DDFC-BBA3-396E-DC8C6C92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82915-DBEA-2E12-CFAA-CB0D97475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B673E-242B-04A1-D3EB-48CEAD1EA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66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4031-147B-DD06-B7B0-89A269DF8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B7BF8-744D-A4EB-F80A-E765C6292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1AE6F-571E-094B-AB6E-EC8470942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E2CA1-96B6-DA56-08D0-88322C92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182A3-36BA-5394-48CD-CAC00B73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D4F7F-F21A-8D5A-A4F6-D0165677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92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8F3F-9657-7EB4-B3CD-8C6826B35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0AE6F-A16A-736C-98F9-7F6E6336C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DC56E-D5CC-3F92-F729-2634268B0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737C68-1843-DB30-BCCF-6BA070831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84834-952E-B543-1E96-C33ADBB62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77F103-9DED-C2E4-9618-C27477A20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A1CA8-18BA-E113-8AFF-778E8085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6F84E4-39F7-37E5-4A05-12B4756D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36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60267-ED42-0D77-51D6-2D9F632F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B0792-57AD-ECE7-68DA-26639F4D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07528-2FA6-D484-525D-7D79F3EC6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7A84B-CE2A-9442-DA4F-2986C6A1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9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9700E7-6EBF-D815-6354-3CF7B977F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158C44-8BDC-C5C6-95A6-8C63D2655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AE8C0-8AA3-6AB6-8F68-307C8B20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36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5AEB4-1EA7-64D3-63A5-CADAE6A3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4FBAE-7E74-1D67-FB49-62F4499E5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B11E4B-4EB6-B369-DD0D-E6A2C410C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0315F-5153-8276-FAE5-DA8FE98C6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5932E-F7EF-BEF1-0D1A-B12742F51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56726-96D3-6C18-5149-C980100E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836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DBF2F-C5F7-9776-7288-569D9212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B37639-870F-C797-3B66-E7238CC969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2F680-6968-3683-5637-292F2D413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F027B-8B98-7ECF-42A9-D80DD0655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240D1-0CE2-F8E1-C15F-E2F6272F9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9C36D-2502-9BB2-5C94-33630FAA7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2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005C-4FEB-D002-7F3F-0F34A2A15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716F4-6332-9262-1CF7-3A97A8142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93E87-CCCF-7603-5863-F94F0FA0C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A24FF-1DB8-3DF1-3DC2-C4B21D7ED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FFD07-F136-3FBC-BD50-05F177599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4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0139C6-3FF2-B310-EA46-0A25C1EAB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27386-0277-15C4-D5F3-E12A226F3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75145-4A44-900D-5B0B-C5B5D2244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8D77E-AD9C-4349-85A5-85367D10EF2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CC68F-CAA8-92A9-32B5-7BDF0FC23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8D5AA-0719-030B-FA3C-E27AFB4C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33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83EE87-28F2-2E34-1F27-7B3AD3419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07F74-801D-3370-3E4C-94E0BC14E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F6CBB-560A-DB5E-515D-89F82DAAC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C8D77E-AD9C-4349-85A5-85367D10EF2B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EB9D1-6EA0-05A1-37F8-19ADC5E79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3AE52-9DBB-4693-ADAF-1A96EBBB4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FEE46-CF34-5F49-9B2F-AE5E96842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84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8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8.svg"/><Relationship Id="rId4" Type="http://schemas.openxmlformats.org/officeDocument/2006/relationships/diagramLayout" Target="../diagrams/layout2.xml"/><Relationship Id="rId9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10.png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18.png"/><Relationship Id="rId9" Type="http://schemas.microsoft.com/office/2007/relationships/diagramDrawing" Target="../diagrams/drawin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rdiogram">
            <a:extLst>
              <a:ext uri="{FF2B5EF4-FFF2-40B4-BE49-F238E27FC236}">
                <a16:creationId xmlns:a16="http://schemas.microsoft.com/office/drawing/2014/main" id="{4FB83E39-9422-92D8-1860-8B7DA5CE33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413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F442C4-D492-1D92-4B04-5953289DF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Hermann Bold" pitchFamily="2" charset="0"/>
              </a:rPr>
              <a:t>ECG 5000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D16C3-2E86-5FBB-2031-E6A76504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Maria Miguelez</a:t>
            </a:r>
          </a:p>
          <a:p>
            <a:r>
              <a:rPr lang="en-US" dirty="0">
                <a:solidFill>
                  <a:srgbClr val="FFFFFF"/>
                </a:solidFill>
              </a:rPr>
              <a:t>Ann Christin Vietor</a:t>
            </a:r>
          </a:p>
        </p:txBody>
      </p:sp>
    </p:spTree>
    <p:extLst>
      <p:ext uri="{BB962C8B-B14F-4D97-AF65-F5344CB8AC3E}">
        <p14:creationId xmlns:p14="http://schemas.microsoft.com/office/powerpoint/2010/main" val="3521190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29A7A-4944-C414-DC53-A4FFA0A8C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Dataset description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351101-D0E6-2F2E-49BC-4F31B5A0330C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Type of data</a:t>
            </a:r>
            <a:r>
              <a:rPr lang="en-US" sz="1900" dirty="0"/>
              <a:t>: Time-series ECG scan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Task type:</a:t>
            </a:r>
            <a:r>
              <a:rPr lang="en-US" sz="1900" dirty="0"/>
              <a:t> univariate time-series classification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Train shape: 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samples: 500,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time steps: 140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Test shape: 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samples: 4500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time steps: 140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Number of classes</a:t>
            </a:r>
            <a:r>
              <a:rPr lang="en-US" sz="1900" dirty="0"/>
              <a:t>: 5 (1 healthy, 5 conditions)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Challenge: </a:t>
            </a:r>
            <a:r>
              <a:rPr lang="en-US" sz="1900" dirty="0"/>
              <a:t>imbalanced classes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0B6C5E-96FE-FDC7-B844-6D0268425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3894" y="789725"/>
            <a:ext cx="4884162" cy="305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D976D3-EA54-7343-10D9-4CB9A664E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505" y="3842325"/>
            <a:ext cx="5416765" cy="245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55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A794F-08DA-DAAD-7EBF-A40C0D29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951" y="1211283"/>
            <a:ext cx="3365665" cy="1325563"/>
          </a:xfrm>
        </p:spPr>
        <p:txBody>
          <a:bodyPr/>
          <a:lstStyle/>
          <a:p>
            <a:r>
              <a:rPr lang="en-US" dirty="0"/>
              <a:t>Baseline performance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F3FB907-8AE4-88C3-7F61-704D13C09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415256"/>
              </p:ext>
            </p:extLst>
          </p:nvPr>
        </p:nvGraphicFramePr>
        <p:xfrm>
          <a:off x="4933390" y="477066"/>
          <a:ext cx="6061991" cy="2651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6743">
                  <a:extLst>
                    <a:ext uri="{9D8B030D-6E8A-4147-A177-3AD203B41FA5}">
                      <a16:colId xmlns:a16="http://schemas.microsoft.com/office/drawing/2014/main" val="3120533714"/>
                    </a:ext>
                  </a:extLst>
                </a:gridCol>
                <a:gridCol w="1131247">
                  <a:extLst>
                    <a:ext uri="{9D8B030D-6E8A-4147-A177-3AD203B41FA5}">
                      <a16:colId xmlns:a16="http://schemas.microsoft.com/office/drawing/2014/main" val="3871967627"/>
                    </a:ext>
                  </a:extLst>
                </a:gridCol>
                <a:gridCol w="1351541">
                  <a:extLst>
                    <a:ext uri="{9D8B030D-6E8A-4147-A177-3AD203B41FA5}">
                      <a16:colId xmlns:a16="http://schemas.microsoft.com/office/drawing/2014/main" val="2140779327"/>
                    </a:ext>
                  </a:extLst>
                </a:gridCol>
                <a:gridCol w="844714">
                  <a:extLst>
                    <a:ext uri="{9D8B030D-6E8A-4147-A177-3AD203B41FA5}">
                      <a16:colId xmlns:a16="http://schemas.microsoft.com/office/drawing/2014/main" val="1263462706"/>
                    </a:ext>
                  </a:extLst>
                </a:gridCol>
                <a:gridCol w="1517746">
                  <a:extLst>
                    <a:ext uri="{9D8B030D-6E8A-4147-A177-3AD203B41FA5}">
                      <a16:colId xmlns:a16="http://schemas.microsoft.com/office/drawing/2014/main" val="3885278220"/>
                    </a:ext>
                  </a:extLst>
                </a:gridCol>
              </a:tblGrid>
              <a:tr h="574443">
                <a:tc>
                  <a:txBody>
                    <a:bodyPr/>
                    <a:lstStyle/>
                    <a:p>
                      <a:r>
                        <a:rPr lang="en-US" sz="1600" dirty="0"/>
                        <a:t>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Logistic</a:t>
                      </a:r>
                    </a:p>
                    <a:p>
                      <a:r>
                        <a:rPr lang="en-US" sz="1600" dirty="0"/>
                        <a:t>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Transformer</a:t>
                      </a:r>
                    </a:p>
                    <a:p>
                      <a:r>
                        <a:rPr lang="en-US" sz="1600" b="0" dirty="0"/>
                        <a:t>(encoder)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6745221"/>
                  </a:ext>
                </a:extLst>
              </a:tr>
              <a:tr h="332812">
                <a:tc>
                  <a:txBody>
                    <a:bodyPr/>
                    <a:lstStyle/>
                    <a:p>
                      <a:r>
                        <a:rPr lang="en-US" sz="1600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0.941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591485"/>
                  </a:ext>
                </a:extLst>
              </a:tr>
              <a:tr h="574443">
                <a:tc>
                  <a:txBody>
                    <a:bodyPr/>
                    <a:lstStyle/>
                    <a:p>
                      <a:r>
                        <a:rPr lang="en-US" sz="1600" dirty="0"/>
                        <a:t>Recall-macro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125360"/>
                  </a:ext>
                </a:extLst>
              </a:tr>
              <a:tr h="574443">
                <a:tc>
                  <a:txBody>
                    <a:bodyPr/>
                    <a:lstStyle/>
                    <a:p>
                      <a:r>
                        <a:rPr lang="en-US" sz="1600" dirty="0"/>
                        <a:t>Precision-macro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0.70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108482"/>
                  </a:ext>
                </a:extLst>
              </a:tr>
              <a:tr h="574443">
                <a:tc>
                  <a:txBody>
                    <a:bodyPr/>
                    <a:lstStyle/>
                    <a:p>
                      <a:r>
                        <a:rPr lang="en-US" sz="1600" dirty="0"/>
                        <a:t>F1-macro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0.606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64320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81B11ED6-1845-E119-2DA3-2FBEC325A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02" y="4011653"/>
            <a:ext cx="5231124" cy="24407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0F6EEC-F758-A43B-3583-7EB63272D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4004252"/>
            <a:ext cx="5351812" cy="24970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4FBC9F-8DF6-99FE-BBBC-F60206466F43}"/>
              </a:ext>
            </a:extLst>
          </p:cNvPr>
          <p:cNvSpPr txBox="1"/>
          <p:nvPr/>
        </p:nvSpPr>
        <p:spPr>
          <a:xfrm>
            <a:off x="1454069" y="3726204"/>
            <a:ext cx="2481943" cy="4086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Logistic regression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64612C-FD6C-9207-4889-A5C3D0A2B2CF}"/>
              </a:ext>
            </a:extLst>
          </p:cNvPr>
          <p:cNvSpPr txBox="1"/>
          <p:nvPr/>
        </p:nvSpPr>
        <p:spPr>
          <a:xfrm>
            <a:off x="7530935" y="3726203"/>
            <a:ext cx="2481943" cy="4086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Transformer</a:t>
            </a:r>
          </a:p>
        </p:txBody>
      </p:sp>
    </p:spTree>
    <p:extLst>
      <p:ext uri="{BB962C8B-B14F-4D97-AF65-F5344CB8AC3E}">
        <p14:creationId xmlns:p14="http://schemas.microsoft.com/office/powerpoint/2010/main" val="2012455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94CD9F-ED47-5DDD-3F11-45FFC432D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What we tried so far …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AA104BE-813C-6B79-7C6D-0245CDEC19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2377014"/>
              </p:ext>
            </p:extLst>
          </p:nvPr>
        </p:nvGraphicFramePr>
        <p:xfrm>
          <a:off x="746760" y="2228087"/>
          <a:ext cx="10515600" cy="3530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Graphic 7" descr="Badge 1 with solid fill">
            <a:extLst>
              <a:ext uri="{FF2B5EF4-FFF2-40B4-BE49-F238E27FC236}">
                <a16:creationId xmlns:a16="http://schemas.microsoft.com/office/drawing/2014/main" id="{FFF10064-179B-392C-BCED-12C43458E8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9168" y="1865313"/>
            <a:ext cx="1013460" cy="1013460"/>
          </a:xfrm>
          <a:prstGeom prst="rect">
            <a:avLst/>
          </a:prstGeom>
        </p:spPr>
      </p:pic>
      <p:pic>
        <p:nvPicPr>
          <p:cNvPr id="14" name="Graphic 13" descr="Badge with solid fill">
            <a:extLst>
              <a:ext uri="{FF2B5EF4-FFF2-40B4-BE49-F238E27FC236}">
                <a16:creationId xmlns:a16="http://schemas.microsoft.com/office/drawing/2014/main" id="{A615A7EA-B056-61D7-D744-1A234DE6F5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79997" y="1794406"/>
            <a:ext cx="1013460" cy="1013460"/>
          </a:xfrm>
          <a:prstGeom prst="rect">
            <a:avLst/>
          </a:prstGeom>
        </p:spPr>
      </p:pic>
      <p:pic>
        <p:nvPicPr>
          <p:cNvPr id="16" name="Graphic 15" descr="Badge 3 with solid fill">
            <a:extLst>
              <a:ext uri="{FF2B5EF4-FFF2-40B4-BE49-F238E27FC236}">
                <a16:creationId xmlns:a16="http://schemas.microsoft.com/office/drawing/2014/main" id="{04F5E888-F742-7F1F-9EB0-4E1E2A6F65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80826" y="1826369"/>
            <a:ext cx="1013460" cy="101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18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53BC2-B693-97ED-A56A-6C12B1E17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122" y="502410"/>
            <a:ext cx="3793176" cy="822407"/>
          </a:xfr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Data approach: </a:t>
            </a:r>
            <a:br>
              <a:rPr lang="en-US" sz="3200" b="1" dirty="0"/>
            </a:br>
            <a:r>
              <a:rPr lang="en-US" sz="3200" dirty="0">
                <a:solidFill>
                  <a:sysClr val="windowText" lastClr="000000"/>
                </a:solidFill>
              </a:rPr>
              <a:t>Data exploration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C6FC9-3CA4-2740-3920-766352B415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71"/>
          <a:stretch>
            <a:fillRect/>
          </a:stretch>
        </p:blipFill>
        <p:spPr>
          <a:xfrm>
            <a:off x="565613" y="2202009"/>
            <a:ext cx="5113700" cy="42908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A2147A-84B2-15FE-E5D0-F192FEB57717}"/>
              </a:ext>
            </a:extLst>
          </p:cNvPr>
          <p:cNvSpPr txBox="1"/>
          <p:nvPr/>
        </p:nvSpPr>
        <p:spPr>
          <a:xfrm>
            <a:off x="1538362" y="1690688"/>
            <a:ext cx="2930696" cy="4086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PCA </a:t>
            </a:r>
            <a:r>
              <a:rPr lang="en-US" b="1" dirty="0" err="1"/>
              <a:t>xLSTM</a:t>
            </a:r>
            <a:r>
              <a:rPr lang="en-US" b="1" dirty="0"/>
              <a:t> latent space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B83741-73AC-A3D3-20C8-F87DB41CC4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520"/>
          <a:stretch>
            <a:fillRect/>
          </a:stretch>
        </p:blipFill>
        <p:spPr>
          <a:xfrm>
            <a:off x="5847038" y="365125"/>
            <a:ext cx="6206924" cy="58622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58BC53-72CD-A18B-9574-3112F3BAB29B}"/>
              </a:ext>
            </a:extLst>
          </p:cNvPr>
          <p:cNvSpPr txBox="1"/>
          <p:nvPr/>
        </p:nvSpPr>
        <p:spPr>
          <a:xfrm>
            <a:off x="7485152" y="3091940"/>
            <a:ext cx="2930696" cy="4086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Examples of class 4</a:t>
            </a:r>
          </a:p>
        </p:txBody>
      </p:sp>
      <p:pic>
        <p:nvPicPr>
          <p:cNvPr id="12" name="Graphic 11" descr="Badge 1 with solid fill">
            <a:extLst>
              <a:ext uri="{FF2B5EF4-FFF2-40B4-BE49-F238E27FC236}">
                <a16:creationId xmlns:a16="http://schemas.microsoft.com/office/drawing/2014/main" id="{3BBEF225-50C3-48BD-7783-68B3CD5B6E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62" y="243223"/>
            <a:ext cx="1013460" cy="101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901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EA593B-FE64-8794-BEF8-2B8F8EB13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995" y="365124"/>
            <a:ext cx="4473005" cy="6492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6FAA92-6617-4CB7-5BFD-5EF353FFDD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394"/>
          <a:stretch>
            <a:fillRect/>
          </a:stretch>
        </p:blipFill>
        <p:spPr>
          <a:xfrm>
            <a:off x="279783" y="1558100"/>
            <a:ext cx="6879643" cy="2627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F54287-4CC7-0F16-ACF2-1218A04D98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114" t="7800" r="-11915"/>
          <a:stretch>
            <a:fillRect/>
          </a:stretch>
        </p:blipFill>
        <p:spPr>
          <a:xfrm>
            <a:off x="1107122" y="4185628"/>
            <a:ext cx="6503499" cy="24225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80FBEC-520B-BA2D-66C9-AEFED3599B9C}"/>
              </a:ext>
            </a:extLst>
          </p:cNvPr>
          <p:cNvSpPr txBox="1"/>
          <p:nvPr/>
        </p:nvSpPr>
        <p:spPr>
          <a:xfrm>
            <a:off x="8490149" y="186316"/>
            <a:ext cx="2930696" cy="4086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Wavelet transform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8E6332-CAC2-54B2-B3FB-F168D3C46201}"/>
              </a:ext>
            </a:extLst>
          </p:cNvPr>
          <p:cNvSpPr txBox="1"/>
          <p:nvPr/>
        </p:nvSpPr>
        <p:spPr>
          <a:xfrm>
            <a:off x="4473007" y="1379692"/>
            <a:ext cx="2686420" cy="4086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 7 New parameters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0CD8902-9E45-CBEA-738E-E389A489C60B}"/>
              </a:ext>
            </a:extLst>
          </p:cNvPr>
          <p:cNvSpPr txBox="1">
            <a:spLocks/>
          </p:cNvSpPr>
          <p:nvPr/>
        </p:nvSpPr>
        <p:spPr>
          <a:xfrm>
            <a:off x="1107122" y="502410"/>
            <a:ext cx="3793176" cy="822407"/>
          </a:xfrm>
          <a:prstGeom prst="rect">
            <a:avLst/>
          </a:prstGeom>
          <a:ln w="19050" cap="flat" cmpd="sng" algn="ctr">
            <a:noFill/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2"/>
                </a:solidFill>
              </a:rPr>
              <a:t>Data approach: </a:t>
            </a:r>
            <a:br>
              <a:rPr lang="en-US" sz="3200" b="1" dirty="0"/>
            </a:br>
            <a:r>
              <a:rPr lang="en-US" sz="3200" dirty="0"/>
              <a:t>Feature engineering</a:t>
            </a:r>
            <a:endParaRPr lang="en-US" sz="3200" dirty="0">
              <a:solidFill>
                <a:sysClr val="windowText" lastClr="000000"/>
              </a:solidFill>
            </a:endParaRPr>
          </a:p>
        </p:txBody>
      </p:sp>
      <p:pic>
        <p:nvPicPr>
          <p:cNvPr id="16" name="Graphic 15" descr="Badge 1 with solid fill">
            <a:extLst>
              <a:ext uri="{FF2B5EF4-FFF2-40B4-BE49-F238E27FC236}">
                <a16:creationId xmlns:a16="http://schemas.microsoft.com/office/drawing/2014/main" id="{85160EDC-7AB5-0FE8-2928-656EC350D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62" y="243223"/>
            <a:ext cx="1013460" cy="101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62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D7DF9E2-9A3E-E77D-8E21-2DB31B3EB31B}"/>
              </a:ext>
            </a:extLst>
          </p:cNvPr>
          <p:cNvSpPr txBox="1">
            <a:spLocks/>
          </p:cNvSpPr>
          <p:nvPr/>
        </p:nvSpPr>
        <p:spPr>
          <a:xfrm>
            <a:off x="1107122" y="502411"/>
            <a:ext cx="4801310" cy="876224"/>
          </a:xfrm>
          <a:prstGeom prst="rect">
            <a:avLst/>
          </a:prstGeom>
          <a:ln w="19050" cap="flat" cmpd="sng" algn="ctr">
            <a:noFill/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chemeClr val="accent3"/>
                </a:solidFill>
              </a:rPr>
              <a:t>Classification</a:t>
            </a:r>
            <a:r>
              <a:rPr lang="en-US" sz="3600" b="1" dirty="0">
                <a:solidFill>
                  <a:schemeClr val="accent2"/>
                </a:solidFill>
              </a:rPr>
              <a:t> </a:t>
            </a:r>
            <a:r>
              <a:rPr lang="en-US" sz="3600" b="1" dirty="0">
                <a:solidFill>
                  <a:schemeClr val="accent3"/>
                </a:solidFill>
              </a:rPr>
              <a:t>task: </a:t>
            </a:r>
            <a:endParaRPr lang="en-US" sz="2800" dirty="0">
              <a:solidFill>
                <a:schemeClr val="accent3"/>
              </a:solidFill>
            </a:endParaRPr>
          </a:p>
        </p:txBody>
      </p:sp>
      <p:pic>
        <p:nvPicPr>
          <p:cNvPr id="11" name="Graphic 10" descr="Badge with solid fill">
            <a:extLst>
              <a:ext uri="{FF2B5EF4-FFF2-40B4-BE49-F238E27FC236}">
                <a16:creationId xmlns:a16="http://schemas.microsoft.com/office/drawing/2014/main" id="{D10B52DD-9C9A-61ED-276A-3CDABCAF84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79" y="365175"/>
            <a:ext cx="1013460" cy="10134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DE13BE-7F01-4184-D852-46BBC5426571}"/>
              </a:ext>
            </a:extLst>
          </p:cNvPr>
          <p:cNvSpPr txBox="1"/>
          <p:nvPr/>
        </p:nvSpPr>
        <p:spPr>
          <a:xfrm>
            <a:off x="1954890" y="1487737"/>
            <a:ext cx="2686420" cy="71508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 Binary class:</a:t>
            </a:r>
          </a:p>
          <a:p>
            <a:pPr algn="ctr"/>
            <a:r>
              <a:rPr lang="en-US" dirty="0"/>
              <a:t>Healthy  or disease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A0CAD5-A345-BF80-4552-25A0590EB25D}"/>
              </a:ext>
            </a:extLst>
          </p:cNvPr>
          <p:cNvSpPr txBox="1"/>
          <p:nvPr/>
        </p:nvSpPr>
        <p:spPr>
          <a:xfrm>
            <a:off x="7073185" y="1487736"/>
            <a:ext cx="2686420" cy="71508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Triple class:</a:t>
            </a:r>
          </a:p>
          <a:p>
            <a:pPr algn="ctr"/>
            <a:r>
              <a:rPr lang="en-US" dirty="0"/>
              <a:t>Classes 1 to 3</a:t>
            </a:r>
          </a:p>
        </p:txBody>
      </p:sp>
    </p:spTree>
    <p:extLst>
      <p:ext uri="{BB962C8B-B14F-4D97-AF65-F5344CB8AC3E}">
        <p14:creationId xmlns:p14="http://schemas.microsoft.com/office/powerpoint/2010/main" val="1679127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E0C11-1B91-A331-4232-CFFAD9B74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296" y="1872761"/>
            <a:ext cx="3332047" cy="352741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Model</a:t>
            </a:r>
            <a:r>
              <a:rPr lang="en-US" dirty="0"/>
              <a:t>: transformer (encoder)</a:t>
            </a:r>
          </a:p>
          <a:p>
            <a:r>
              <a:rPr lang="en-US" b="1" dirty="0"/>
              <a:t>Early stopping</a:t>
            </a:r>
            <a:r>
              <a:rPr lang="en-US" dirty="0"/>
              <a:t>: 20 epoch</a:t>
            </a:r>
          </a:p>
          <a:p>
            <a:r>
              <a:rPr lang="en-US" b="1" dirty="0"/>
              <a:t>Cross-Validation:</a:t>
            </a:r>
          </a:p>
          <a:p>
            <a:pPr lvl="1"/>
            <a:r>
              <a:rPr lang="en-US" dirty="0"/>
              <a:t>Stratified per class </a:t>
            </a:r>
          </a:p>
          <a:p>
            <a:pPr lvl="1"/>
            <a:r>
              <a:rPr lang="en-US" dirty="0"/>
              <a:t>0.1 split</a:t>
            </a:r>
          </a:p>
          <a:p>
            <a:pPr lvl="1"/>
            <a:r>
              <a:rPr lang="en-US" dirty="0"/>
              <a:t>5 fold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39F04B-E880-7CDE-5536-4CB65C0B0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728694"/>
              </p:ext>
            </p:extLst>
          </p:nvPr>
        </p:nvGraphicFramePr>
        <p:xfrm>
          <a:off x="4342982" y="1872761"/>
          <a:ext cx="7595052" cy="3112477"/>
        </p:xfrm>
        <a:graphic>
          <a:graphicData uri="http://schemas.openxmlformats.org/drawingml/2006/table">
            <a:tbl>
              <a:tblPr firstRow="1" firstCol="1">
                <a:tableStyleId>{ED083AE6-46FA-4A59-8FB0-9F97EB10719F}</a:tableStyleId>
              </a:tblPr>
              <a:tblGrid>
                <a:gridCol w="2381971">
                  <a:extLst>
                    <a:ext uri="{9D8B030D-6E8A-4147-A177-3AD203B41FA5}">
                      <a16:colId xmlns:a16="http://schemas.microsoft.com/office/drawing/2014/main" val="1496847289"/>
                    </a:ext>
                  </a:extLst>
                </a:gridCol>
                <a:gridCol w="2625360">
                  <a:extLst>
                    <a:ext uri="{9D8B030D-6E8A-4147-A177-3AD203B41FA5}">
                      <a16:colId xmlns:a16="http://schemas.microsoft.com/office/drawing/2014/main" val="838828328"/>
                    </a:ext>
                  </a:extLst>
                </a:gridCol>
                <a:gridCol w="2587721">
                  <a:extLst>
                    <a:ext uri="{9D8B030D-6E8A-4147-A177-3AD203B41FA5}">
                      <a16:colId xmlns:a16="http://schemas.microsoft.com/office/drawing/2014/main" val="2510061506"/>
                    </a:ext>
                  </a:extLst>
                </a:gridCol>
              </a:tblGrid>
              <a:tr h="369277">
                <a:tc>
                  <a:txBody>
                    <a:bodyPr/>
                    <a:lstStyle/>
                    <a:p>
                      <a:r>
                        <a:rPr lang="en-US" dirty="0"/>
                        <a:t>Parameters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old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114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</a:rPr>
                        <a:t>learning_rate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0.001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0.000156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67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 err="1"/>
                        <a:t>batch_size</a:t>
                      </a:r>
                      <a:r>
                        <a:rPr lang="en-US" sz="1800" b="0" dirty="0"/>
                        <a:t> </a:t>
                      </a:r>
                      <a:endParaRPr lang="en-US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123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343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 err="1"/>
                        <a:t>d_model</a:t>
                      </a:r>
                      <a:r>
                        <a:rPr lang="en-US" sz="1800" b="0" dirty="0"/>
                        <a:t> </a:t>
                      </a:r>
                      <a:endParaRPr lang="en-US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95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 err="1"/>
                        <a:t>dim_ff</a:t>
                      </a:r>
                      <a:r>
                        <a:rPr lang="en-US" sz="1800" b="0" dirty="0"/>
                        <a:t> </a:t>
                      </a:r>
                      <a:endParaRPr lang="en-US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185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285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 err="1"/>
                        <a:t>n_heads</a:t>
                      </a:r>
                      <a:r>
                        <a:rPr lang="en-US" sz="1800" b="0" dirty="0"/>
                        <a:t> </a:t>
                      </a:r>
                      <a:endParaRPr lang="en-US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234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 err="1"/>
                        <a:t>n_layers</a:t>
                      </a:r>
                      <a:r>
                        <a:rPr lang="en-US" sz="1800" b="0" dirty="0"/>
                        <a:t> </a:t>
                      </a:r>
                      <a:endParaRPr lang="en-US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605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err="1"/>
                        <a:t>CrossEntropy</a:t>
                      </a:r>
                      <a:r>
                        <a:rPr lang="en-US" b="0" dirty="0"/>
                        <a:t> weights 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[0.2, 0.2, 0.2, 0.2, 0.2]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[0.46, 0.1, 0.156, 0.165, 0.389]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364356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B4450E13-CCD6-29DC-CBEF-062BBCA28662}"/>
              </a:ext>
            </a:extLst>
          </p:cNvPr>
          <p:cNvSpPr txBox="1">
            <a:spLocks/>
          </p:cNvSpPr>
          <p:nvPr/>
        </p:nvSpPr>
        <p:spPr>
          <a:xfrm>
            <a:off x="1107122" y="502411"/>
            <a:ext cx="4801310" cy="876224"/>
          </a:xfrm>
          <a:prstGeom prst="rect">
            <a:avLst/>
          </a:prstGeom>
          <a:ln w="19050" cap="flat" cmpd="sng" algn="ctr">
            <a:noFill/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100" b="1" dirty="0">
                <a:solidFill>
                  <a:schemeClr val="accent4"/>
                </a:solidFill>
              </a:rPr>
              <a:t>Modelling</a:t>
            </a:r>
            <a:r>
              <a:rPr lang="en-US" sz="4100" dirty="0">
                <a:solidFill>
                  <a:schemeClr val="tx1"/>
                </a:solidFill>
              </a:rPr>
              <a:t>: HPO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9" name="Graphic 8" descr="Badge 3 with solid fill">
            <a:extLst>
              <a:ext uri="{FF2B5EF4-FFF2-40B4-BE49-F238E27FC236}">
                <a16:creationId xmlns:a16="http://schemas.microsoft.com/office/drawing/2014/main" id="{1ECDEBC8-6933-77A0-7765-8CA4EEBD34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662" y="264855"/>
            <a:ext cx="1013460" cy="101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38E9D-1C4E-9C91-97C8-21A665010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05F3CF4-6AF1-BCE8-828D-3A9A178B27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885111"/>
              </p:ext>
            </p:extLst>
          </p:nvPr>
        </p:nvGraphicFramePr>
        <p:xfrm>
          <a:off x="1381441" y="1554156"/>
          <a:ext cx="9777046" cy="3387118"/>
        </p:xfrm>
        <a:graphic>
          <a:graphicData uri="http://schemas.openxmlformats.org/drawingml/2006/table">
            <a:tbl>
              <a:tblPr firstRow="1" firstCol="1" bandRow="1">
                <a:tableStyleId>{1E171933-4619-4E11-9A3F-F7608DF75F80}</a:tableStyleId>
              </a:tblPr>
              <a:tblGrid>
                <a:gridCol w="1842897">
                  <a:extLst>
                    <a:ext uri="{9D8B030D-6E8A-4147-A177-3AD203B41FA5}">
                      <a16:colId xmlns:a16="http://schemas.microsoft.com/office/drawing/2014/main" val="3120533714"/>
                    </a:ext>
                  </a:extLst>
                </a:gridCol>
                <a:gridCol w="1648907">
                  <a:extLst>
                    <a:ext uri="{9D8B030D-6E8A-4147-A177-3AD203B41FA5}">
                      <a16:colId xmlns:a16="http://schemas.microsoft.com/office/drawing/2014/main" val="2140779327"/>
                    </a:ext>
                  </a:extLst>
                </a:gridCol>
                <a:gridCol w="1736947">
                  <a:extLst>
                    <a:ext uri="{9D8B030D-6E8A-4147-A177-3AD203B41FA5}">
                      <a16:colId xmlns:a16="http://schemas.microsoft.com/office/drawing/2014/main" val="1263462706"/>
                    </a:ext>
                  </a:extLst>
                </a:gridCol>
                <a:gridCol w="1639830">
                  <a:extLst>
                    <a:ext uri="{9D8B030D-6E8A-4147-A177-3AD203B41FA5}">
                      <a16:colId xmlns:a16="http://schemas.microsoft.com/office/drawing/2014/main" val="3885278220"/>
                    </a:ext>
                  </a:extLst>
                </a:gridCol>
                <a:gridCol w="1243873">
                  <a:extLst>
                    <a:ext uri="{9D8B030D-6E8A-4147-A177-3AD203B41FA5}">
                      <a16:colId xmlns:a16="http://schemas.microsoft.com/office/drawing/2014/main" val="2356553958"/>
                    </a:ext>
                  </a:extLst>
                </a:gridCol>
                <a:gridCol w="1664592">
                  <a:extLst>
                    <a:ext uri="{9D8B030D-6E8A-4147-A177-3AD203B41FA5}">
                      <a16:colId xmlns:a16="http://schemas.microsoft.com/office/drawing/2014/main" val="1274544684"/>
                    </a:ext>
                  </a:extLst>
                </a:gridCol>
              </a:tblGrid>
              <a:tr h="41100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ADVANCED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877036"/>
                  </a:ext>
                </a:extLst>
              </a:tr>
              <a:tr h="730293">
                <a:tc>
                  <a:txBody>
                    <a:bodyPr/>
                    <a:lstStyle/>
                    <a:p>
                      <a:r>
                        <a:rPr lang="en-US" sz="1600" dirty="0"/>
                        <a:t>Metrics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Logistic</a:t>
                      </a:r>
                    </a:p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Transformer</a:t>
                      </a:r>
                    </a:p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(encoder)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Transformer Optimized</a:t>
                      </a:r>
                    </a:p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(encoder)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xLSTM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Foundation model </a:t>
                      </a:r>
                    </a:p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(Mantis V2)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745221"/>
                  </a:ext>
                </a:extLst>
              </a:tr>
              <a:tr h="409812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Parameters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705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111.877</a:t>
                      </a:r>
                      <a:endParaRPr lang="en-US" sz="1600" b="1" dirty="0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111.877</a:t>
                      </a:r>
                      <a:endParaRPr lang="en-US" sz="1600" b="1" dirty="0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108.685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4.189.957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57738691"/>
                  </a:ext>
                </a:extLst>
              </a:tr>
              <a:tr h="409812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accuracy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0.901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0.941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0.938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0.9351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591485"/>
                  </a:ext>
                </a:extLst>
              </a:tr>
              <a:tr h="409812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Recall-macro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0.59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9125360"/>
                  </a:ext>
                </a:extLst>
              </a:tr>
              <a:tr h="409812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Precision-macro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0.52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3108482"/>
                  </a:ext>
                </a:extLst>
              </a:tr>
              <a:tr h="51391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F1-macro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0.575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0.606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0.608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0.549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64320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B09C82AB-C27A-1939-D1C1-35D05D3B6A4A}"/>
              </a:ext>
            </a:extLst>
          </p:cNvPr>
          <p:cNvSpPr txBox="1">
            <a:spLocks/>
          </p:cNvSpPr>
          <p:nvPr/>
        </p:nvSpPr>
        <p:spPr>
          <a:xfrm>
            <a:off x="1107122" y="411389"/>
            <a:ext cx="4801310" cy="876224"/>
          </a:xfrm>
          <a:prstGeom prst="rect">
            <a:avLst/>
          </a:prstGeom>
          <a:ln w="19050" cap="flat" cmpd="sng" algn="ctr">
            <a:noFill/>
            <a:prstDash val="solid"/>
            <a:miter lim="800000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100" b="1" dirty="0">
                <a:solidFill>
                  <a:schemeClr val="accent4"/>
                </a:solidFill>
              </a:rPr>
              <a:t>Modelling</a:t>
            </a:r>
            <a:r>
              <a:rPr lang="en-US" sz="4100" dirty="0">
                <a:solidFill>
                  <a:schemeClr val="tx1"/>
                </a:solidFill>
              </a:rPr>
              <a:t>: </a:t>
            </a:r>
          </a:p>
          <a:p>
            <a:r>
              <a:rPr lang="en-US" sz="3400" dirty="0">
                <a:solidFill>
                  <a:schemeClr val="tx1"/>
                </a:solidFill>
              </a:rPr>
              <a:t>Performance</a:t>
            </a: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6" name="Graphic 5" descr="Badge 3 with solid fill">
            <a:extLst>
              <a:ext uri="{FF2B5EF4-FFF2-40B4-BE49-F238E27FC236}">
                <a16:creationId xmlns:a16="http://schemas.microsoft.com/office/drawing/2014/main" id="{E87F3083-E21F-E85A-5895-96FB7524E1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662" y="264855"/>
            <a:ext cx="1013460" cy="101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40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41F2-EFE8-FA2F-DF66-043305187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177EB-479F-3748-46AC-7A8C66938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What worked…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0B21426-9D2F-E977-4DC4-430F2063DB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1787825"/>
              </p:ext>
            </p:extLst>
          </p:nvPr>
        </p:nvGraphicFramePr>
        <p:xfrm>
          <a:off x="746760" y="2228087"/>
          <a:ext cx="10515600" cy="3530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Graphic 7" descr="Badge 1 with solid fill">
            <a:extLst>
              <a:ext uri="{FF2B5EF4-FFF2-40B4-BE49-F238E27FC236}">
                <a16:creationId xmlns:a16="http://schemas.microsoft.com/office/drawing/2014/main" id="{4C28F2AB-B5F0-E466-2BD0-9825B0A5F1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9168" y="1865313"/>
            <a:ext cx="1013460" cy="1013460"/>
          </a:xfrm>
          <a:prstGeom prst="rect">
            <a:avLst/>
          </a:prstGeom>
        </p:spPr>
      </p:pic>
      <p:pic>
        <p:nvPicPr>
          <p:cNvPr id="14" name="Graphic 13" descr="Badge with solid fill">
            <a:extLst>
              <a:ext uri="{FF2B5EF4-FFF2-40B4-BE49-F238E27FC236}">
                <a16:creationId xmlns:a16="http://schemas.microsoft.com/office/drawing/2014/main" id="{1125EC96-8E5D-17FC-4B65-1153DDC091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79997" y="1794406"/>
            <a:ext cx="1013460" cy="1013460"/>
          </a:xfrm>
          <a:prstGeom prst="rect">
            <a:avLst/>
          </a:prstGeom>
        </p:spPr>
      </p:pic>
      <p:pic>
        <p:nvPicPr>
          <p:cNvPr id="16" name="Graphic 15" descr="Badge 3 with solid fill">
            <a:extLst>
              <a:ext uri="{FF2B5EF4-FFF2-40B4-BE49-F238E27FC236}">
                <a16:creationId xmlns:a16="http://schemas.microsoft.com/office/drawing/2014/main" id="{726538BA-1417-01F8-0F51-8E6841D0EF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80826" y="1826369"/>
            <a:ext cx="1013460" cy="101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48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8D02C-CE37-E365-25BE-6A6D47FB2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dirty="0"/>
              <a:t>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968BC9-FF0E-9DBB-A600-19B2EAE60B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1366214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8873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4965A-270B-6BF9-08E0-751A98DC4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002626" cy="132556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pic>
        <p:nvPicPr>
          <p:cNvPr id="4" name="Picture 3" descr="They're the Same Picture Meme Maker — Kapwing">
            <a:extLst>
              <a:ext uri="{FF2B5EF4-FFF2-40B4-BE49-F238E27FC236}">
                <a16:creationId xmlns:a16="http://schemas.microsoft.com/office/drawing/2014/main" id="{A1B9AA86-7B72-8FF5-105B-5A4BDDA60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923" y="627062"/>
            <a:ext cx="4973439" cy="5603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E6C232-BDFB-4BA3-78A3-919568642C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8" t="72994" r="74408" b="14133"/>
          <a:stretch>
            <a:fillRect/>
          </a:stretch>
        </p:blipFill>
        <p:spPr>
          <a:xfrm rot="790352">
            <a:off x="9169235" y="1571320"/>
            <a:ext cx="2072016" cy="11825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EB73A2-61D8-D28D-CA60-0269CA8405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407" t="44612" r="48669" b="42698"/>
          <a:stretch>
            <a:fillRect/>
          </a:stretch>
        </p:blipFill>
        <p:spPr>
          <a:xfrm rot="767952">
            <a:off x="6685685" y="1213764"/>
            <a:ext cx="2195312" cy="114313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B82A889-4BF8-9AEB-051E-3940A609A477}"/>
              </a:ext>
            </a:extLst>
          </p:cNvPr>
          <p:cNvSpPr txBox="1"/>
          <p:nvPr/>
        </p:nvSpPr>
        <p:spPr>
          <a:xfrm rot="611059">
            <a:off x="7427030" y="843240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738A15-DC1A-8AE0-858F-2532A8E9D463}"/>
              </a:ext>
            </a:extLst>
          </p:cNvPr>
          <p:cNvSpPr txBox="1"/>
          <p:nvPr/>
        </p:nvSpPr>
        <p:spPr>
          <a:xfrm rot="611059">
            <a:off x="9977691" y="1242749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 4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AD8C17F4-2DE7-918F-3391-8D967EF5F4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2601912"/>
              </p:ext>
            </p:extLst>
          </p:nvPr>
        </p:nvGraphicFramePr>
        <p:xfrm>
          <a:off x="713638" y="1690688"/>
          <a:ext cx="5449095" cy="4247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46585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461</Words>
  <Application>Microsoft Macintosh PowerPoint</Application>
  <PresentationFormat>Widescreen</PresentationFormat>
  <Paragraphs>172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Hermann Bold</vt:lpstr>
      <vt:lpstr>Office Theme</vt:lpstr>
      <vt:lpstr>ECG 5000</vt:lpstr>
      <vt:lpstr>Dataset description</vt:lpstr>
      <vt:lpstr>Baseline performance</vt:lpstr>
      <vt:lpstr>What we tried so far …</vt:lpstr>
      <vt:lpstr>Data approach:  Data exploration</vt:lpstr>
      <vt:lpstr>PowerPoint Presentation</vt:lpstr>
      <vt:lpstr>PowerPoint Presentation</vt:lpstr>
      <vt:lpstr>PowerPoint Presentation</vt:lpstr>
      <vt:lpstr>PowerPoint Presentation</vt:lpstr>
      <vt:lpstr>What worked…</vt:lpstr>
      <vt:lpstr>Limitations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Miguelez</dc:creator>
  <cp:lastModifiedBy>Maria Miguelez</cp:lastModifiedBy>
  <cp:revision>7</cp:revision>
  <dcterms:created xsi:type="dcterms:W3CDTF">2026-08-21T07:02:29Z</dcterms:created>
  <dcterms:modified xsi:type="dcterms:W3CDTF">2026-08-27T16:56:41Z</dcterms:modified>
</cp:coreProperties>
</file>