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79"/>
    <p:restoredTop sz="94681"/>
  </p:normalViewPr>
  <p:slideViewPr>
    <p:cSldViewPr snapToGrid="0">
      <p:cViewPr varScale="1">
        <p:scale>
          <a:sx n="107" d="100"/>
          <a:sy n="107" d="100"/>
        </p:scale>
        <p:origin x="3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C0EC5-C74A-9560-07B2-AFB4BB3296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43548F-63A8-3FEF-B760-B14ADA8C6A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10B52-614B-A3EA-E156-B68049209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8D77E-AD9C-4349-85A5-85367D10EF2B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43216-8EDE-4A7D-09F4-B172250B3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A6962-7C0C-8555-93AF-33EC8D0B1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EE46-CF34-5F49-9B2F-AE5E96842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199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FD734-6FDA-7DDF-E3F8-0DB910AAD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2E85A-5FC1-E17D-FF05-881A31D19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5E3F5-54B2-9996-EA71-2CA4DD2CC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8D77E-AD9C-4349-85A5-85367D10EF2B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8E449-BEBA-907F-1BF2-EA60AE82D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A14D6-6A59-BCD6-7FD0-CFE365A18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EE46-CF34-5F49-9B2F-AE5E96842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45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B4E04-ABA9-1D71-C03E-179099370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F56D16-F4D9-EEDB-4043-2AED5162B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8810E-DDFC-BBA3-396E-DC8C6C92D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8D77E-AD9C-4349-85A5-85367D10EF2B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82915-DBEA-2E12-CFAA-CB0D97475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B673E-242B-04A1-D3EB-48CEAD1EA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EE46-CF34-5F49-9B2F-AE5E96842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266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A4031-147B-DD06-B7B0-89A269DF8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B7BF8-744D-A4EB-F80A-E765C62925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D1AE6F-571E-094B-AB6E-EC8470942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E2CA1-96B6-DA56-08D0-88322C92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8D77E-AD9C-4349-85A5-85367D10EF2B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E182A3-36BA-5394-48CD-CAC00B738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2D4F7F-F21A-8D5A-A4F6-D0165677C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EE46-CF34-5F49-9B2F-AE5E96842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692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48F3F-9657-7EB4-B3CD-8C6826B35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60AE6F-A16A-736C-98F9-7F6E6336C7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8DC56E-D5CC-3F92-F729-2634268B07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737C68-1843-DB30-BCCF-6BA070831E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284834-952E-B543-1E96-C33ADBB623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77F103-9DED-C2E4-9618-C27477A20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8D77E-AD9C-4349-85A5-85367D10EF2B}" type="datetimeFigureOut">
              <a:rPr lang="en-US" smtClean="0"/>
              <a:t>8/21/26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DA1CA8-18BA-E113-8AFF-778E80858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6F84E4-39F7-37E5-4A05-12B4756D0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EE46-CF34-5F49-9B2F-AE5E96842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336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60267-ED42-0D77-51D6-2D9F632F9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B0792-57AD-ECE7-68DA-26639F4D9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8D77E-AD9C-4349-85A5-85367D10EF2B}" type="datetimeFigureOut">
              <a:rPr lang="en-US" smtClean="0"/>
              <a:t>8/21/26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C07528-2FA6-D484-525D-7D79F3EC6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27A84B-CE2A-9442-DA4F-2986C6A19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EE46-CF34-5F49-9B2F-AE5E96842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398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9700E7-6EBF-D815-6354-3CF7B977F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8D77E-AD9C-4349-85A5-85367D10EF2B}" type="datetimeFigureOut">
              <a:rPr lang="en-US" smtClean="0"/>
              <a:t>8/21/26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158C44-8BDC-C5C6-95A6-8C63D2655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4AE8C0-8AA3-6AB6-8F68-307C8B20C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EE46-CF34-5F49-9B2F-AE5E96842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436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5AEB4-1EA7-64D3-63A5-CADAE6A35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4FBAE-7E74-1D67-FB49-62F4499E5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B11E4B-4EB6-B369-DD0D-E6A2C410CA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20315F-5153-8276-FAE5-DA8FE98C6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8D77E-AD9C-4349-85A5-85367D10EF2B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F5932E-F7EF-BEF1-0D1A-B12742F51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156726-96D3-6C18-5149-C980100E3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EE46-CF34-5F49-9B2F-AE5E96842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836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DBF2F-C5F7-9776-7288-569D92124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B37639-870F-C797-3B66-E7238CC969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D2F680-6968-3683-5637-292F2D413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AF027B-8B98-7ECF-42A9-D80DD0655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8D77E-AD9C-4349-85A5-85367D10EF2B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9240D1-0CE2-F8E1-C15F-E2F6272F9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59C36D-2502-9BB2-5C94-33630FAA7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EE46-CF34-5F49-9B2F-AE5E96842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322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005C-4FEB-D002-7F3F-0F34A2A15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8716F4-6332-9262-1CF7-3A97A8142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93E87-CCCF-7603-5863-F94F0FA0C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8D77E-AD9C-4349-85A5-85367D10EF2B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A24FF-1DB8-3DF1-3DC2-C4B21D7ED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FFD07-F136-3FBC-BD50-05F177599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EE46-CF34-5F49-9B2F-AE5E96842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747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0139C6-3FF2-B310-EA46-0A25C1EAB0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C27386-0277-15C4-D5F3-E12A226F30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75145-4A44-900D-5B0B-C5B5D2244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8D77E-AD9C-4349-85A5-85367D10EF2B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CC68F-CAA8-92A9-32B5-7BDF0FC23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8D5AA-0719-030B-FA3C-E27AFB4CB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EE46-CF34-5F49-9B2F-AE5E96842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233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83EE87-28F2-2E34-1F27-7B3AD3419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07F74-801D-3370-3E4C-94E0BC14E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F6CBB-560A-DB5E-515D-89F82DAAC8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C8D77E-AD9C-4349-85A5-85367D10EF2B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EB9D1-6EA0-05A1-37F8-19ADC5E795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3AE52-9DBB-4693-ADAF-1A96EBBB40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5FEE46-CF34-5F49-9B2F-AE5E96842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84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ardiogram">
            <a:extLst>
              <a:ext uri="{FF2B5EF4-FFF2-40B4-BE49-F238E27FC236}">
                <a16:creationId xmlns:a16="http://schemas.microsoft.com/office/drawing/2014/main" id="{4FB83E39-9422-92D8-1860-8B7DA5CE33A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5413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F442C4-D492-1D92-4B04-5953289DF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latin typeface="Hermann Bold" pitchFamily="2" charset="0"/>
              </a:rPr>
              <a:t>ECG 5000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9D16C3-2E86-5FBB-2031-E6A76504E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Maria Miguelez</a:t>
            </a:r>
          </a:p>
          <a:p>
            <a:r>
              <a:rPr lang="en-US" dirty="0">
                <a:solidFill>
                  <a:srgbClr val="FFFFFF"/>
                </a:solidFill>
              </a:rPr>
              <a:t>Ann Christin Vietor</a:t>
            </a:r>
          </a:p>
        </p:txBody>
      </p:sp>
    </p:spTree>
    <p:extLst>
      <p:ext uri="{BB962C8B-B14F-4D97-AF65-F5344CB8AC3E}">
        <p14:creationId xmlns:p14="http://schemas.microsoft.com/office/powerpoint/2010/main" val="35211903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F29A7A-4944-C414-DC53-A4FFA0A8C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Dataset description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351101-D0E6-2F2E-49BC-4F31B5A0330C}"/>
              </a:ext>
            </a:extLst>
          </p:cNvPr>
          <p:cNvSpPr txBox="1"/>
          <p:nvPr/>
        </p:nvSpPr>
        <p:spPr>
          <a:xfrm>
            <a:off x="640080" y="2706624"/>
            <a:ext cx="6894576" cy="3483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/>
              <a:t>Type of data</a:t>
            </a:r>
            <a:r>
              <a:rPr lang="en-US" sz="1900" dirty="0"/>
              <a:t>: Time-series ECG scan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/>
              <a:t>Task type:</a:t>
            </a:r>
            <a:r>
              <a:rPr lang="en-US" sz="1900" dirty="0"/>
              <a:t> univariate time-series classification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/>
              <a:t>Train shape: 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samples: 500,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time steps: 140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/>
              <a:t>Test shape: 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samples: 4500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time steps: 140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/>
              <a:t>Number of classes</a:t>
            </a:r>
            <a:r>
              <a:rPr lang="en-US" sz="1900" dirty="0"/>
              <a:t>: 5 (1 healthy, 5 conditions)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/>
              <a:t>Challenge: </a:t>
            </a:r>
            <a:r>
              <a:rPr lang="en-US" sz="1900" dirty="0"/>
              <a:t>imbalanced classes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0B6C5E-96FE-FDC7-B844-6D02684259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93894" y="789725"/>
            <a:ext cx="4884162" cy="3052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D976D3-EA54-7343-10D9-4CB9A664E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5505" y="3842325"/>
            <a:ext cx="5416765" cy="2451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455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E3911-D511-A6FC-CF3C-F09E441C4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342" y="11875"/>
            <a:ext cx="10515600" cy="1325563"/>
          </a:xfrm>
        </p:spPr>
        <p:txBody>
          <a:bodyPr/>
          <a:lstStyle/>
          <a:p>
            <a:r>
              <a:rPr lang="en-US" dirty="0"/>
              <a:t>Baseline parameters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1912C9-C66D-4B3B-6136-01B5BD68D7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940564"/>
              </p:ext>
            </p:extLst>
          </p:nvPr>
        </p:nvGraphicFramePr>
        <p:xfrm>
          <a:off x="1111333" y="1186986"/>
          <a:ext cx="10419609" cy="5533504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489363">
                  <a:extLst>
                    <a:ext uri="{9D8B030D-6E8A-4147-A177-3AD203B41FA5}">
                      <a16:colId xmlns:a16="http://schemas.microsoft.com/office/drawing/2014/main" val="3408156472"/>
                    </a:ext>
                  </a:extLst>
                </a:gridCol>
                <a:gridCol w="1959429">
                  <a:extLst>
                    <a:ext uri="{9D8B030D-6E8A-4147-A177-3AD203B41FA5}">
                      <a16:colId xmlns:a16="http://schemas.microsoft.com/office/drawing/2014/main" val="2444896372"/>
                    </a:ext>
                  </a:extLst>
                </a:gridCol>
                <a:gridCol w="1733797">
                  <a:extLst>
                    <a:ext uri="{9D8B030D-6E8A-4147-A177-3AD203B41FA5}">
                      <a16:colId xmlns:a16="http://schemas.microsoft.com/office/drawing/2014/main" val="1126224508"/>
                    </a:ext>
                  </a:extLst>
                </a:gridCol>
                <a:gridCol w="2648197">
                  <a:extLst>
                    <a:ext uri="{9D8B030D-6E8A-4147-A177-3AD203B41FA5}">
                      <a16:colId xmlns:a16="http://schemas.microsoft.com/office/drawing/2014/main" val="2140855523"/>
                    </a:ext>
                  </a:extLst>
                </a:gridCol>
                <a:gridCol w="2588823">
                  <a:extLst>
                    <a:ext uri="{9D8B030D-6E8A-4147-A177-3AD203B41FA5}">
                      <a16:colId xmlns:a16="http://schemas.microsoft.com/office/drawing/2014/main" val="1870653159"/>
                    </a:ext>
                  </a:extLst>
                </a:gridCol>
              </a:tblGrid>
              <a:tr h="748144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+mj-lt"/>
                        </a:rPr>
                        <a:t>Model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+mj-lt"/>
                        </a:rPr>
                        <a:t># parameters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+mj-lt"/>
                        </a:rPr>
                        <a:t>Scaling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+mj-lt"/>
                        </a:rPr>
                        <a:t>(Standard scaler)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+mj-lt"/>
                        </a:rPr>
                        <a:t>Loss weights (</a:t>
                      </a:r>
                      <a:r>
                        <a:rPr lang="en-US" sz="2000" b="1" dirty="0" err="1">
                          <a:solidFill>
                            <a:schemeClr val="bg1"/>
                          </a:solidFill>
                          <a:latin typeface="+mj-lt"/>
                        </a:rPr>
                        <a:t>CrossEntropy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+mj-lt"/>
                        </a:rPr>
                        <a:t>)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+mj-lt"/>
                        </a:rPr>
                        <a:t>Hyper parameters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2753228"/>
                  </a:ext>
                </a:extLst>
              </a:tr>
              <a:tr h="380368">
                <a:tc>
                  <a:txBody>
                    <a:bodyPr/>
                    <a:lstStyle/>
                    <a:p>
                      <a:r>
                        <a:rPr lang="en-US" sz="1800" b="1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trees = 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9692026"/>
                  </a:ext>
                </a:extLst>
              </a:tr>
              <a:tr h="551603">
                <a:tc>
                  <a:txBody>
                    <a:bodyPr/>
                    <a:lstStyle/>
                    <a:p>
                      <a:r>
                        <a:rPr lang="en-US" sz="1800" b="1" dirty="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705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TRUE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CrossEntropyLoss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sz="1800" b="1" dirty="0"/>
                        <a:t> with L2 regularization</a:t>
                      </a:r>
                    </a:p>
                    <a:p>
                      <a:pPr algn="l"/>
                      <a:r>
                        <a:rPr lang="en-US" sz="1800" dirty="0"/>
                        <a:t>Inverse to class frequency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[0.004, 0.038, 0.02, 0.35, 0.58]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2128709"/>
                  </a:ext>
                </a:extLst>
              </a:tr>
              <a:tr h="380368">
                <a:tc>
                  <a:txBody>
                    <a:bodyPr/>
                    <a:lstStyle/>
                    <a:p>
                      <a:r>
                        <a:rPr lang="en-US" sz="1800" b="1" dirty="0"/>
                        <a:t>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17.477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CrossEntropyLoss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Uniform per class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[0.2, 0.2, 0.2, 0.2, 0.2]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Learning_rate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0.001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hidden_size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=64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n_l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ayers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=1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 err="1"/>
                        <a:t>batch_size</a:t>
                      </a:r>
                      <a:r>
                        <a:rPr lang="en-US" sz="1400" dirty="0"/>
                        <a:t> = 500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 err="1"/>
                        <a:t>context_length</a:t>
                      </a:r>
                      <a:r>
                        <a:rPr lang="en-US" sz="1400" dirty="0"/>
                        <a:t> = 140 (all)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0679141"/>
                  </a:ext>
                </a:extLst>
              </a:tr>
              <a:tr h="1236196">
                <a:tc>
                  <a:txBody>
                    <a:bodyPr/>
                    <a:lstStyle/>
                    <a:p>
                      <a:r>
                        <a:rPr lang="en-US" sz="1800" b="1" dirty="0"/>
                        <a:t>Transformer </a:t>
                      </a:r>
                      <a:r>
                        <a:rPr lang="en-US" sz="1800" b="0" dirty="0"/>
                        <a:t>(encoder)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111.877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CrossEntropyLoss</a:t>
                      </a:r>
                      <a:endParaRPr lang="en-US" sz="18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Uniform per class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[0.2, 0.2, 0.2, 0.2, 0.2]</a:t>
                      </a:r>
                    </a:p>
                    <a:p>
                      <a:pPr algn="l"/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Learning_rate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0.001</a:t>
                      </a:r>
                      <a:endParaRPr lang="en-US" sz="14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 err="1"/>
                        <a:t>d_model</a:t>
                      </a:r>
                      <a:r>
                        <a:rPr lang="en-US" sz="1400" dirty="0"/>
                        <a:t> = 64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 err="1"/>
                        <a:t>dim_ff</a:t>
                      </a:r>
                      <a:r>
                        <a:rPr lang="en-US" sz="1400" dirty="0"/>
                        <a:t> = 128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 err="1"/>
                        <a:t>n_heads</a:t>
                      </a:r>
                      <a:r>
                        <a:rPr lang="en-US" sz="1400" dirty="0"/>
                        <a:t> = 4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 err="1"/>
                        <a:t>n_layers</a:t>
                      </a:r>
                      <a:r>
                        <a:rPr lang="en-US" sz="1400" dirty="0"/>
                        <a:t> = 2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 err="1"/>
                        <a:t>batch_size</a:t>
                      </a:r>
                      <a:r>
                        <a:rPr lang="en-US" sz="1400" dirty="0"/>
                        <a:t> = 200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 err="1"/>
                        <a:t>context_length</a:t>
                      </a:r>
                      <a:r>
                        <a:rPr lang="en-US" sz="1400" dirty="0"/>
                        <a:t> = 140 (all)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519816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E97BB98-AAA5-2A5C-1F33-18B0D1FBB1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05772"/>
              </p:ext>
            </p:extLst>
          </p:nvPr>
        </p:nvGraphicFramePr>
        <p:xfrm>
          <a:off x="198252" y="1923807"/>
          <a:ext cx="913081" cy="47966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3081">
                  <a:extLst>
                    <a:ext uri="{9D8B030D-6E8A-4147-A177-3AD203B41FA5}">
                      <a16:colId xmlns:a16="http://schemas.microsoft.com/office/drawing/2014/main" val="1197269398"/>
                    </a:ext>
                  </a:extLst>
                </a:gridCol>
              </a:tblGrid>
              <a:tr h="200822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Machine Learning</a:t>
                      </a:r>
                    </a:p>
                  </a:txBody>
                  <a:tcPr vert="vert270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2877955"/>
                  </a:ext>
                </a:extLst>
              </a:tr>
              <a:tr h="278845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Deep Learning</a:t>
                      </a:r>
                    </a:p>
                  </a:txBody>
                  <a:tcPr vert="vert270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8494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0471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A794F-08DA-DAAD-7EBF-A40C0D299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951" y="1211283"/>
            <a:ext cx="3365665" cy="1325563"/>
          </a:xfrm>
        </p:spPr>
        <p:txBody>
          <a:bodyPr/>
          <a:lstStyle/>
          <a:p>
            <a:r>
              <a:rPr lang="en-US" dirty="0"/>
              <a:t>Baseline performance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F3FB907-8AE4-88C3-7F61-704D13C095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415256"/>
              </p:ext>
            </p:extLst>
          </p:nvPr>
        </p:nvGraphicFramePr>
        <p:xfrm>
          <a:off x="4933390" y="477066"/>
          <a:ext cx="6061991" cy="2651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6743">
                  <a:extLst>
                    <a:ext uri="{9D8B030D-6E8A-4147-A177-3AD203B41FA5}">
                      <a16:colId xmlns:a16="http://schemas.microsoft.com/office/drawing/2014/main" val="3120533714"/>
                    </a:ext>
                  </a:extLst>
                </a:gridCol>
                <a:gridCol w="1131247">
                  <a:extLst>
                    <a:ext uri="{9D8B030D-6E8A-4147-A177-3AD203B41FA5}">
                      <a16:colId xmlns:a16="http://schemas.microsoft.com/office/drawing/2014/main" val="3871967627"/>
                    </a:ext>
                  </a:extLst>
                </a:gridCol>
                <a:gridCol w="1351541">
                  <a:extLst>
                    <a:ext uri="{9D8B030D-6E8A-4147-A177-3AD203B41FA5}">
                      <a16:colId xmlns:a16="http://schemas.microsoft.com/office/drawing/2014/main" val="2140779327"/>
                    </a:ext>
                  </a:extLst>
                </a:gridCol>
                <a:gridCol w="844714">
                  <a:extLst>
                    <a:ext uri="{9D8B030D-6E8A-4147-A177-3AD203B41FA5}">
                      <a16:colId xmlns:a16="http://schemas.microsoft.com/office/drawing/2014/main" val="1263462706"/>
                    </a:ext>
                  </a:extLst>
                </a:gridCol>
                <a:gridCol w="1517746">
                  <a:extLst>
                    <a:ext uri="{9D8B030D-6E8A-4147-A177-3AD203B41FA5}">
                      <a16:colId xmlns:a16="http://schemas.microsoft.com/office/drawing/2014/main" val="3885278220"/>
                    </a:ext>
                  </a:extLst>
                </a:gridCol>
              </a:tblGrid>
              <a:tr h="574443">
                <a:tc>
                  <a:txBody>
                    <a:bodyPr/>
                    <a:lstStyle/>
                    <a:p>
                      <a:r>
                        <a:rPr lang="en-US" sz="1600" dirty="0"/>
                        <a:t>Metrics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Logistic</a:t>
                      </a:r>
                    </a:p>
                    <a:p>
                      <a:r>
                        <a:rPr lang="en-US" sz="1600" dirty="0"/>
                        <a:t>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Transformer</a:t>
                      </a:r>
                    </a:p>
                    <a:p>
                      <a:r>
                        <a:rPr lang="en-US" sz="1600" b="0" dirty="0"/>
                        <a:t>(encoder)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6745221"/>
                  </a:ext>
                </a:extLst>
              </a:tr>
              <a:tr h="332812">
                <a:tc>
                  <a:txBody>
                    <a:bodyPr/>
                    <a:lstStyle/>
                    <a:p>
                      <a:r>
                        <a:rPr lang="en-US" sz="1600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0.935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0.930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0.941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591485"/>
                  </a:ext>
                </a:extLst>
              </a:tr>
              <a:tr h="574443">
                <a:tc>
                  <a:txBody>
                    <a:bodyPr/>
                    <a:lstStyle/>
                    <a:p>
                      <a:r>
                        <a:rPr lang="en-US" sz="1600" dirty="0"/>
                        <a:t>Recall-macro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0.59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125360"/>
                  </a:ext>
                </a:extLst>
              </a:tr>
              <a:tr h="574443">
                <a:tc>
                  <a:txBody>
                    <a:bodyPr/>
                    <a:lstStyle/>
                    <a:p>
                      <a:r>
                        <a:rPr lang="en-US" sz="1600" dirty="0"/>
                        <a:t>Precision-macro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0.69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0.61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0.70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3108482"/>
                  </a:ext>
                </a:extLst>
              </a:tr>
              <a:tr h="574443">
                <a:tc>
                  <a:txBody>
                    <a:bodyPr/>
                    <a:lstStyle/>
                    <a:p>
                      <a:r>
                        <a:rPr lang="en-US" sz="1600" dirty="0"/>
                        <a:t>F1-macro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0.575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0.574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0.606</a:t>
                      </a:r>
                    </a:p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9643201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81B11ED6-1845-E119-2DA3-2FBEC325A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02" y="4011653"/>
            <a:ext cx="5231124" cy="24407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60F6EEC-F758-A43B-3583-7EB63272D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4004252"/>
            <a:ext cx="5351812" cy="249706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54FBC9F-8DF6-99FE-BBBC-F60206466F43}"/>
              </a:ext>
            </a:extLst>
          </p:cNvPr>
          <p:cNvSpPr txBox="1"/>
          <p:nvPr/>
        </p:nvSpPr>
        <p:spPr>
          <a:xfrm>
            <a:off x="1454069" y="3726204"/>
            <a:ext cx="2481943" cy="4086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Logistic regression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64612C-FD6C-9207-4889-A5C3D0A2B2CF}"/>
              </a:ext>
            </a:extLst>
          </p:cNvPr>
          <p:cNvSpPr txBox="1"/>
          <p:nvPr/>
        </p:nvSpPr>
        <p:spPr>
          <a:xfrm>
            <a:off x="7530935" y="3726203"/>
            <a:ext cx="2481943" cy="4086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Transformer</a:t>
            </a:r>
          </a:p>
        </p:txBody>
      </p:sp>
    </p:spTree>
    <p:extLst>
      <p:ext uri="{BB962C8B-B14F-4D97-AF65-F5344CB8AC3E}">
        <p14:creationId xmlns:p14="http://schemas.microsoft.com/office/powerpoint/2010/main" val="2012455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A4829B-B9BC-3B16-D479-9B3CE5BFC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1702191"/>
          </a:xfrm>
        </p:spPr>
        <p:txBody>
          <a:bodyPr>
            <a:normAutofit/>
          </a:bodyPr>
          <a:lstStyle/>
          <a:p>
            <a:r>
              <a:rPr lang="en-US" sz="5400" dirty="0"/>
              <a:t>Future steps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7A6EB-72B4-ADBE-2E1D-4764DFF6D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200" dirty="0"/>
              <a:t>Strategies to improve performance:</a:t>
            </a:r>
          </a:p>
          <a:p>
            <a:r>
              <a:rPr lang="en-US" sz="2200" b="1" dirty="0"/>
              <a:t>HPO + Cross-Validation: </a:t>
            </a:r>
            <a:r>
              <a:rPr lang="en-US" sz="2200" dirty="0"/>
              <a:t>Class-balanced split in CV</a:t>
            </a:r>
          </a:p>
          <a:p>
            <a:endParaRPr lang="en-US" sz="2200" dirty="0"/>
          </a:p>
          <a:p>
            <a:r>
              <a:rPr lang="en-US" sz="2200" b="1" dirty="0"/>
              <a:t>Try different model architectures:</a:t>
            </a:r>
          </a:p>
          <a:p>
            <a:pPr lvl="1"/>
            <a:r>
              <a:rPr lang="en-US" sz="2200" dirty="0"/>
              <a:t>Explore and optimize attention use</a:t>
            </a:r>
          </a:p>
          <a:p>
            <a:pPr lvl="1"/>
            <a:r>
              <a:rPr lang="en-US" sz="2200" dirty="0"/>
              <a:t>Plot the latent space to identify class overlap</a:t>
            </a:r>
          </a:p>
          <a:p>
            <a:pPr lvl="1"/>
            <a:r>
              <a:rPr lang="en-US" sz="2200" dirty="0"/>
              <a:t>Feature engineering</a:t>
            </a:r>
          </a:p>
          <a:p>
            <a:pPr lvl="1"/>
            <a:r>
              <a:rPr lang="en-US" sz="2200" dirty="0"/>
              <a:t>Test LAVAE-Net </a:t>
            </a:r>
          </a:p>
          <a:p>
            <a:pPr lvl="1"/>
            <a:endParaRPr lang="en-US" sz="2200" dirty="0"/>
          </a:p>
          <a:p>
            <a:r>
              <a:rPr lang="en-US" sz="2200" b="1" dirty="0"/>
              <a:t>New metric:</a:t>
            </a:r>
          </a:p>
          <a:p>
            <a:pPr lvl="1"/>
            <a:r>
              <a:rPr lang="en-US" sz="2200" dirty="0"/>
              <a:t>AUC </a:t>
            </a:r>
          </a:p>
          <a:p>
            <a:pPr lvl="1"/>
            <a:r>
              <a:rPr lang="en-US" sz="2200"/>
              <a:t>PRC curves </a:t>
            </a:r>
            <a:r>
              <a:rPr lang="en-US" sz="2200" dirty="0"/>
              <a:t>per Class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0438E8B-72BB-8B59-9B4F-2807EAF97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96" y="2578614"/>
            <a:ext cx="4261127" cy="29295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94400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298</Words>
  <Application>Microsoft Macintosh PowerPoint</Application>
  <PresentationFormat>Widescreen</PresentationFormat>
  <Paragraphs>103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Hermann Bold</vt:lpstr>
      <vt:lpstr>Office Theme</vt:lpstr>
      <vt:lpstr>ECG 5000</vt:lpstr>
      <vt:lpstr>Dataset description</vt:lpstr>
      <vt:lpstr>Baseline parameters</vt:lpstr>
      <vt:lpstr>Baseline performance</vt:lpstr>
      <vt:lpstr>Future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Miguelez</dc:creator>
  <cp:lastModifiedBy>Maria Miguelez</cp:lastModifiedBy>
  <cp:revision>5</cp:revision>
  <dcterms:created xsi:type="dcterms:W3CDTF">2026-08-21T07:02:29Z</dcterms:created>
  <dcterms:modified xsi:type="dcterms:W3CDTF">2026-08-21T10:22:34Z</dcterms:modified>
</cp:coreProperties>
</file>